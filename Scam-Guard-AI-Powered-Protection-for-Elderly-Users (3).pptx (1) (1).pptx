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4541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4541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122" y="557262"/>
            <a:ext cx="16769755" cy="135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42437" y="2266344"/>
            <a:ext cx="8900160" cy="3714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4541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01073" y="1231651"/>
            <a:ext cx="9438005" cy="17494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z="5550" spc="680"/>
              <a:t>Scam</a:t>
            </a:r>
            <a:r>
              <a:rPr dirty="0" sz="5550" spc="270"/>
              <a:t> </a:t>
            </a:r>
            <a:r>
              <a:rPr dirty="0" sz="5550" spc="465"/>
              <a:t>Guard:</a:t>
            </a:r>
            <a:r>
              <a:rPr dirty="0" sz="5550" spc="275"/>
              <a:t> </a:t>
            </a:r>
            <a:r>
              <a:rPr dirty="0" sz="5550" spc="650"/>
              <a:t>AI-</a:t>
            </a:r>
            <a:r>
              <a:rPr dirty="0" sz="5550" spc="960"/>
              <a:t>ELDER- </a:t>
            </a:r>
            <a:r>
              <a:rPr dirty="0" sz="5550" spc="990"/>
              <a:t>FINANCE-</a:t>
            </a:r>
            <a:r>
              <a:rPr dirty="0" sz="5550" spc="1025"/>
              <a:t>PROTECTOR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7801073" y="3349281"/>
            <a:ext cx="9208770" cy="920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 spc="50">
                <a:solidFill>
                  <a:srgbClr val="454140"/>
                </a:solidFill>
                <a:latin typeface="Tahoma"/>
                <a:cs typeface="Tahoma"/>
              </a:rPr>
              <a:t>Safeguarding</a:t>
            </a:r>
            <a:r>
              <a:rPr dirty="0" sz="215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our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seniors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r>
              <a:rPr dirty="0" sz="215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digital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fraud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through</a:t>
            </a:r>
            <a:r>
              <a:rPr dirty="0" sz="215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intelligent,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real-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time </a:t>
            </a: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detection</a:t>
            </a:r>
            <a:r>
              <a:rPr dirty="0" sz="215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family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54140"/>
                </a:solidFill>
                <a:latin typeface="Tahoma"/>
                <a:cs typeface="Tahoma"/>
              </a:rPr>
              <a:t>collaboration.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638917" y="6084887"/>
            <a:ext cx="6102350" cy="3717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  <a:tabLst>
                <a:tab pos="3359785" algn="l"/>
              </a:tabLst>
            </a:pPr>
            <a:r>
              <a:rPr dirty="0" sz="2950" spc="620" b="1">
                <a:latin typeface="Cambria"/>
                <a:cs typeface="Cambria"/>
              </a:rPr>
              <a:t>TEAM</a:t>
            </a:r>
            <a:r>
              <a:rPr dirty="0" sz="2950" spc="150" b="1">
                <a:latin typeface="Cambria"/>
                <a:cs typeface="Cambria"/>
              </a:rPr>
              <a:t> </a:t>
            </a:r>
            <a:r>
              <a:rPr dirty="0" sz="2950" spc="665" b="1">
                <a:latin typeface="Cambria"/>
                <a:cs typeface="Cambria"/>
              </a:rPr>
              <a:t>NAME</a:t>
            </a:r>
            <a:r>
              <a:rPr dirty="0" sz="2950" spc="150" b="1">
                <a:latin typeface="Cambria"/>
                <a:cs typeface="Cambria"/>
              </a:rPr>
              <a:t> </a:t>
            </a:r>
            <a:r>
              <a:rPr dirty="0" sz="2950" spc="-50" b="1">
                <a:latin typeface="Cambria"/>
                <a:cs typeface="Cambria"/>
              </a:rPr>
              <a:t>:</a:t>
            </a:r>
            <a:r>
              <a:rPr dirty="0" sz="2950" b="1">
                <a:latin typeface="Cambria"/>
                <a:cs typeface="Cambria"/>
              </a:rPr>
              <a:t>	</a:t>
            </a:r>
            <a:r>
              <a:rPr dirty="0" sz="2950" spc="545" b="1">
                <a:latin typeface="Cambria"/>
                <a:cs typeface="Cambria"/>
              </a:rPr>
              <a:t>CODEORBIT</a:t>
            </a:r>
            <a:endParaRPr sz="29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700" spc="570" b="1">
                <a:latin typeface="Cambria"/>
                <a:cs typeface="Cambria"/>
              </a:rPr>
              <a:t>TEAM</a:t>
            </a:r>
            <a:r>
              <a:rPr dirty="0" sz="2700" spc="125" b="1">
                <a:latin typeface="Cambria"/>
                <a:cs typeface="Cambria"/>
              </a:rPr>
              <a:t> </a:t>
            </a:r>
            <a:r>
              <a:rPr dirty="0" sz="2700" spc="545" b="1">
                <a:latin typeface="Cambria"/>
                <a:cs typeface="Cambria"/>
              </a:rPr>
              <a:t>MEMBERS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700">
              <a:latin typeface="Cambria"/>
              <a:cs typeface="Cambria"/>
            </a:endParaRPr>
          </a:p>
          <a:p>
            <a:pPr marL="804545" marR="1537335" indent="15240">
              <a:lnSpc>
                <a:spcPct val="134600"/>
              </a:lnSpc>
            </a:pPr>
            <a:r>
              <a:rPr dirty="0" sz="2600" spc="700">
                <a:latin typeface="Cambria"/>
                <a:cs typeface="Cambria"/>
              </a:rPr>
              <a:t>M</a:t>
            </a:r>
            <a:r>
              <a:rPr dirty="0" sz="2600" spc="170">
                <a:latin typeface="Cambria"/>
                <a:cs typeface="Cambria"/>
              </a:rPr>
              <a:t> </a:t>
            </a:r>
            <a:r>
              <a:rPr dirty="0" sz="2600" spc="475">
                <a:latin typeface="Cambria"/>
                <a:cs typeface="Cambria"/>
              </a:rPr>
              <a:t>HITHESH</a:t>
            </a:r>
            <a:r>
              <a:rPr dirty="0" sz="2600" spc="170">
                <a:latin typeface="Cambria"/>
                <a:cs typeface="Cambria"/>
              </a:rPr>
              <a:t> </a:t>
            </a:r>
            <a:r>
              <a:rPr dirty="0" sz="2600" spc="470">
                <a:latin typeface="Cambria"/>
                <a:cs typeface="Cambria"/>
              </a:rPr>
              <a:t>KUMAR </a:t>
            </a:r>
            <a:r>
              <a:rPr dirty="0" sz="2600" spc="380">
                <a:latin typeface="Cambria"/>
                <a:cs typeface="Cambria"/>
              </a:rPr>
              <a:t>M.BHAVYA</a:t>
            </a:r>
            <a:r>
              <a:rPr dirty="0" sz="2600" spc="70">
                <a:latin typeface="Cambria"/>
                <a:cs typeface="Cambria"/>
              </a:rPr>
              <a:t> </a:t>
            </a:r>
            <a:r>
              <a:rPr dirty="0" sz="2600" spc="365">
                <a:latin typeface="Cambria"/>
                <a:cs typeface="Cambria"/>
              </a:rPr>
              <a:t>SREE </a:t>
            </a:r>
            <a:r>
              <a:rPr dirty="0" sz="2600" spc="350">
                <a:latin typeface="Cambria"/>
                <a:cs typeface="Cambria"/>
              </a:rPr>
              <a:t>D.DIVYA</a:t>
            </a:r>
            <a:r>
              <a:rPr dirty="0" sz="2600" spc="80">
                <a:latin typeface="Cambria"/>
                <a:cs typeface="Cambria"/>
              </a:rPr>
              <a:t> </a:t>
            </a:r>
            <a:r>
              <a:rPr dirty="0" sz="2600" spc="365">
                <a:latin typeface="Cambria"/>
                <a:cs typeface="Cambria"/>
              </a:rPr>
              <a:t>SREE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9537" y="768215"/>
            <a:ext cx="372427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85">
                <a:solidFill>
                  <a:srgbClr val="5C4E3C"/>
                </a:solidFill>
                <a:latin typeface="Cambria"/>
                <a:cs typeface="Cambria"/>
              </a:rPr>
              <a:t>The</a:t>
            </a:r>
            <a:r>
              <a:rPr dirty="0" sz="2750" spc="185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750" spc="310">
                <a:solidFill>
                  <a:srgbClr val="5C4E3C"/>
                </a:solidFill>
                <a:latin typeface="Cambria"/>
                <a:cs typeface="Cambria"/>
              </a:rPr>
              <a:t>Growing</a:t>
            </a:r>
            <a:r>
              <a:rPr dirty="0" sz="2750" spc="185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750" spc="254">
                <a:solidFill>
                  <a:srgbClr val="5C4E3C"/>
                </a:solidFill>
                <a:latin typeface="Cambria"/>
                <a:cs typeface="Cambria"/>
              </a:rPr>
              <a:t>Threat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537" y="1302309"/>
            <a:ext cx="1329309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890"/>
              <a:t>Why</a:t>
            </a:r>
            <a:r>
              <a:rPr dirty="0" sz="5550" spc="265"/>
              <a:t> </a:t>
            </a:r>
            <a:r>
              <a:rPr dirty="0" sz="5550" spc="450"/>
              <a:t>Elderly</a:t>
            </a:r>
            <a:r>
              <a:rPr dirty="0" sz="5550" spc="265"/>
              <a:t> </a:t>
            </a:r>
            <a:r>
              <a:rPr dirty="0" sz="5550" spc="330"/>
              <a:t>Users</a:t>
            </a:r>
            <a:r>
              <a:rPr dirty="0" sz="5550" spc="265"/>
              <a:t> </a:t>
            </a:r>
            <a:r>
              <a:rPr dirty="0" sz="5550" spc="630"/>
              <a:t>Need</a:t>
            </a:r>
            <a:r>
              <a:rPr dirty="0" sz="5550" spc="265"/>
              <a:t> </a:t>
            </a:r>
            <a:r>
              <a:rPr dirty="0" sz="5550" spc="350"/>
              <a:t>Protection</a:t>
            </a:r>
            <a:endParaRPr sz="55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80" y="4442662"/>
            <a:ext cx="104775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80" y="5482247"/>
            <a:ext cx="104775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80" y="5979929"/>
            <a:ext cx="104775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80" y="6547858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79537" y="2458871"/>
            <a:ext cx="7664450" cy="432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445" b="1">
                <a:solidFill>
                  <a:srgbClr val="5C4E3C"/>
                </a:solidFill>
                <a:latin typeface="Cambria"/>
                <a:cs typeface="Cambria"/>
              </a:rPr>
              <a:t>Common</a:t>
            </a:r>
            <a:r>
              <a:rPr dirty="0" sz="2800" spc="145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800" spc="170" b="1">
                <a:solidFill>
                  <a:srgbClr val="5C4E3C"/>
                </a:solidFill>
                <a:latin typeface="Cambria"/>
                <a:cs typeface="Cambria"/>
              </a:rPr>
              <a:t>Attack</a:t>
            </a:r>
            <a:r>
              <a:rPr dirty="0" sz="2800" spc="150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800" spc="165" b="1">
                <a:solidFill>
                  <a:srgbClr val="5C4E3C"/>
                </a:solidFill>
                <a:latin typeface="Cambria"/>
                <a:cs typeface="Cambria"/>
              </a:rPr>
              <a:t>Vectors</a:t>
            </a:r>
            <a:endParaRPr sz="2800">
              <a:latin typeface="Cambria"/>
              <a:cs typeface="Cambria"/>
            </a:endParaRPr>
          </a:p>
          <a:p>
            <a:pPr marL="48895" marR="1927225">
              <a:lnSpc>
                <a:spcPct val="134600"/>
              </a:lnSpc>
              <a:spcBef>
                <a:spcPts val="890"/>
              </a:spcBef>
            </a:pPr>
            <a:r>
              <a:rPr dirty="0" sz="2600" b="1">
                <a:solidFill>
                  <a:srgbClr val="454140"/>
                </a:solidFill>
                <a:latin typeface="Trebuchet MS"/>
                <a:cs typeface="Trebuchet MS"/>
              </a:rPr>
              <a:t>Elderly</a:t>
            </a:r>
            <a:r>
              <a:rPr dirty="0" sz="26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454140"/>
                </a:solidFill>
                <a:latin typeface="Trebuchet MS"/>
                <a:cs typeface="Trebuchet MS"/>
              </a:rPr>
              <a:t>individuals</a:t>
            </a:r>
            <a:r>
              <a:rPr dirty="0" sz="26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80" b="1">
                <a:solidFill>
                  <a:srgbClr val="454140"/>
                </a:solidFill>
                <a:latin typeface="Trebuchet MS"/>
                <a:cs typeface="Trebuchet MS"/>
              </a:rPr>
              <a:t>face</a:t>
            </a:r>
            <a:r>
              <a:rPr dirty="0" sz="26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110" b="1">
                <a:solidFill>
                  <a:srgbClr val="454140"/>
                </a:solidFill>
                <a:latin typeface="Trebuchet MS"/>
                <a:cs typeface="Trebuchet MS"/>
              </a:rPr>
              <a:t>a</a:t>
            </a:r>
            <a:r>
              <a:rPr dirty="0" sz="26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55" b="1">
                <a:solidFill>
                  <a:srgbClr val="454140"/>
                </a:solidFill>
                <a:latin typeface="Trebuchet MS"/>
                <a:cs typeface="Trebuchet MS"/>
              </a:rPr>
              <a:t>barrage</a:t>
            </a:r>
            <a:r>
              <a:rPr dirty="0" sz="26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-25" b="1">
                <a:solidFill>
                  <a:srgbClr val="454140"/>
                </a:solidFill>
                <a:latin typeface="Trebuchet MS"/>
                <a:cs typeface="Trebuchet MS"/>
              </a:rPr>
              <a:t>of </a:t>
            </a:r>
            <a:r>
              <a:rPr dirty="0" sz="2600" spc="90" b="1">
                <a:solidFill>
                  <a:srgbClr val="454140"/>
                </a:solidFill>
                <a:latin typeface="Trebuchet MS"/>
                <a:cs typeface="Trebuchet MS"/>
              </a:rPr>
              <a:t>sophisticated</a:t>
            </a:r>
            <a:r>
              <a:rPr dirty="0" sz="2600" spc="-13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190" b="1">
                <a:solidFill>
                  <a:srgbClr val="454140"/>
                </a:solidFill>
                <a:latin typeface="Trebuchet MS"/>
                <a:cs typeface="Trebuchet MS"/>
              </a:rPr>
              <a:t>scams</a:t>
            </a:r>
            <a:r>
              <a:rPr dirty="0" sz="2600" spc="-12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-10" b="1">
                <a:solidFill>
                  <a:srgbClr val="454140"/>
                </a:solidFill>
                <a:latin typeface="Trebuchet MS"/>
                <a:cs typeface="Trebuchet MS"/>
              </a:rPr>
              <a:t>daily:</a:t>
            </a:r>
            <a:endParaRPr sz="2600">
              <a:latin typeface="Trebuchet MS"/>
              <a:cs typeface="Trebuchet MS"/>
            </a:endParaRPr>
          </a:p>
          <a:p>
            <a:pPr marL="338455" marR="53340">
              <a:lnSpc>
                <a:spcPct val="134600"/>
              </a:lnSpc>
              <a:spcBef>
                <a:spcPts val="390"/>
              </a:spcBef>
            </a:pPr>
            <a:r>
              <a:rPr dirty="0" sz="2600" spc="50">
                <a:solidFill>
                  <a:srgbClr val="454140"/>
                </a:solidFill>
                <a:latin typeface="Tahoma"/>
                <a:cs typeface="Tahoma"/>
              </a:rPr>
              <a:t>Fraudulent</a:t>
            </a:r>
            <a:r>
              <a:rPr dirty="0" sz="26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454140"/>
                </a:solidFill>
                <a:latin typeface="Tahoma"/>
                <a:cs typeface="Tahoma"/>
              </a:rPr>
              <a:t>SMS</a:t>
            </a:r>
            <a:r>
              <a:rPr dirty="0" sz="26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454140"/>
                </a:solidFill>
                <a:latin typeface="Tahoma"/>
                <a:cs typeface="Tahoma"/>
              </a:rPr>
              <a:t>messages</a:t>
            </a:r>
            <a:r>
              <a:rPr dirty="0" sz="26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55">
                <a:solidFill>
                  <a:srgbClr val="454140"/>
                </a:solidFill>
                <a:latin typeface="Tahoma"/>
                <a:cs typeface="Tahoma"/>
              </a:rPr>
              <a:t>claiming</a:t>
            </a:r>
            <a:r>
              <a:rPr dirty="0" sz="26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urgent</a:t>
            </a:r>
            <a:r>
              <a:rPr dirty="0" sz="26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40">
                <a:solidFill>
                  <a:srgbClr val="454140"/>
                </a:solidFill>
                <a:latin typeface="Tahoma"/>
                <a:cs typeface="Tahoma"/>
              </a:rPr>
              <a:t>bank </a:t>
            </a:r>
            <a:r>
              <a:rPr dirty="0" sz="2600" spc="75">
                <a:solidFill>
                  <a:srgbClr val="454140"/>
                </a:solidFill>
                <a:latin typeface="Tahoma"/>
                <a:cs typeface="Tahoma"/>
              </a:rPr>
              <a:t>issues</a:t>
            </a:r>
            <a:endParaRPr sz="2600">
              <a:latin typeface="Tahoma"/>
              <a:cs typeface="Tahoma"/>
            </a:endParaRPr>
          </a:p>
          <a:p>
            <a:pPr marL="338455">
              <a:lnSpc>
                <a:spcPct val="100000"/>
              </a:lnSpc>
              <a:spcBef>
                <a:spcPts val="865"/>
              </a:spcBef>
            </a:pPr>
            <a:r>
              <a:rPr dirty="0" sz="2600" spc="105">
                <a:solidFill>
                  <a:srgbClr val="454140"/>
                </a:solidFill>
                <a:latin typeface="Tahoma"/>
                <a:cs typeface="Tahoma"/>
              </a:rPr>
              <a:t>Deceptive</a:t>
            </a:r>
            <a:r>
              <a:rPr dirty="0" sz="26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454140"/>
                </a:solidFill>
                <a:latin typeface="Tahoma"/>
                <a:cs typeface="Tahoma"/>
              </a:rPr>
              <a:t>WhatsApp</a:t>
            </a:r>
            <a:r>
              <a:rPr dirty="0" sz="26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454140"/>
                </a:solidFill>
                <a:latin typeface="Tahoma"/>
                <a:cs typeface="Tahoma"/>
              </a:rPr>
              <a:t>communications</a:t>
            </a:r>
            <a:endParaRPr sz="2600">
              <a:latin typeface="Tahoma"/>
              <a:cs typeface="Tahoma"/>
            </a:endParaRPr>
          </a:p>
          <a:p>
            <a:pPr marL="338455">
              <a:lnSpc>
                <a:spcPct val="100000"/>
              </a:lnSpc>
              <a:spcBef>
                <a:spcPts val="800"/>
              </a:spcBef>
            </a:pP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Phishing</a:t>
            </a:r>
            <a:r>
              <a:rPr dirty="0" sz="26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454140"/>
                </a:solidFill>
                <a:latin typeface="Tahoma"/>
                <a:cs typeface="Tahoma"/>
              </a:rPr>
              <a:t>emails</a:t>
            </a:r>
            <a:r>
              <a:rPr dirty="0" sz="26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454140"/>
                </a:solidFill>
                <a:latin typeface="Tahoma"/>
                <a:cs typeface="Tahoma"/>
              </a:rPr>
              <a:t>mimicking</a:t>
            </a:r>
            <a:r>
              <a:rPr dirty="0" sz="2600" spc="-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95">
                <a:solidFill>
                  <a:srgbClr val="454140"/>
                </a:solidFill>
                <a:latin typeface="Tahoma"/>
                <a:cs typeface="Tahoma"/>
              </a:rPr>
              <a:t>trusted</a:t>
            </a:r>
            <a:r>
              <a:rPr dirty="0" sz="26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40">
                <a:solidFill>
                  <a:srgbClr val="454140"/>
                </a:solidFill>
                <a:latin typeface="Tahoma"/>
                <a:cs typeface="Tahoma"/>
              </a:rPr>
              <a:t>organisations</a:t>
            </a:r>
            <a:endParaRPr sz="2600">
              <a:latin typeface="Tahoma"/>
              <a:cs typeface="Tahoma"/>
            </a:endParaRPr>
          </a:p>
          <a:p>
            <a:pPr marL="338455">
              <a:lnSpc>
                <a:spcPct val="100000"/>
              </a:lnSpc>
              <a:spcBef>
                <a:spcPts val="1350"/>
              </a:spcBef>
            </a:pPr>
            <a:r>
              <a:rPr dirty="0" sz="2600" spc="135">
                <a:solidFill>
                  <a:srgbClr val="454140"/>
                </a:solidFill>
                <a:latin typeface="Tahoma"/>
                <a:cs typeface="Tahoma"/>
              </a:rPr>
              <a:t>Voice</a:t>
            </a:r>
            <a:r>
              <a:rPr dirty="0" sz="26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454140"/>
                </a:solidFill>
                <a:latin typeface="Tahoma"/>
                <a:cs typeface="Tahoma"/>
              </a:rPr>
              <a:t>calls</a:t>
            </a:r>
            <a:r>
              <a:rPr dirty="0" sz="26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65">
                <a:solidFill>
                  <a:srgbClr val="454140"/>
                </a:solidFill>
                <a:latin typeface="Tahoma"/>
                <a:cs typeface="Tahoma"/>
              </a:rPr>
              <a:t>requesting</a:t>
            </a:r>
            <a:r>
              <a:rPr dirty="0" sz="26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70">
                <a:solidFill>
                  <a:srgbClr val="454140"/>
                </a:solidFill>
                <a:latin typeface="Tahoma"/>
                <a:cs typeface="Tahoma"/>
              </a:rPr>
              <a:t>OTPs</a:t>
            </a:r>
            <a:r>
              <a:rPr dirty="0" sz="26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50">
                <a:solidFill>
                  <a:srgbClr val="454140"/>
                </a:solidFill>
                <a:latin typeface="Tahoma"/>
                <a:cs typeface="Tahoma"/>
              </a:rPr>
              <a:t>or</a:t>
            </a:r>
            <a:r>
              <a:rPr dirty="0" sz="26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454140"/>
                </a:solidFill>
                <a:latin typeface="Tahoma"/>
                <a:cs typeface="Tahoma"/>
              </a:rPr>
              <a:t>direct</a:t>
            </a:r>
            <a:r>
              <a:rPr dirty="0" sz="26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95">
                <a:solidFill>
                  <a:srgbClr val="454140"/>
                </a:solidFill>
                <a:latin typeface="Tahoma"/>
                <a:cs typeface="Tahoma"/>
              </a:rPr>
              <a:t>payments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7713" y="4442662"/>
            <a:ext cx="104775" cy="1047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7713" y="5167922"/>
            <a:ext cx="104775" cy="1047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7713" y="5653996"/>
            <a:ext cx="104775" cy="1047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7713" y="6245906"/>
            <a:ext cx="104775" cy="1047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9440713" y="2354869"/>
            <a:ext cx="7034530" cy="4122420"/>
          </a:xfrm>
          <a:prstGeom prst="rect">
            <a:avLst/>
          </a:prstGeom>
        </p:spPr>
        <p:txBody>
          <a:bodyPr wrap="square" lIns="0" tIns="205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5"/>
              </a:spcBef>
            </a:pPr>
            <a:r>
              <a:rPr dirty="0" sz="2600" spc="175" b="1">
                <a:solidFill>
                  <a:srgbClr val="5C4E3C"/>
                </a:solidFill>
                <a:latin typeface="Cambria"/>
                <a:cs typeface="Cambria"/>
              </a:rPr>
              <a:t>Vulnerability</a:t>
            </a:r>
            <a:r>
              <a:rPr dirty="0" sz="2600" spc="145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600" spc="135" b="1">
                <a:solidFill>
                  <a:srgbClr val="5C4E3C"/>
                </a:solidFill>
                <a:latin typeface="Cambria"/>
                <a:cs typeface="Cambria"/>
              </a:rPr>
              <a:t>Factors</a:t>
            </a:r>
            <a:endParaRPr sz="2600">
              <a:latin typeface="Cambria"/>
              <a:cs typeface="Cambria"/>
            </a:endParaRPr>
          </a:p>
          <a:p>
            <a:pPr marL="12700" marR="5080">
              <a:lnSpc>
                <a:spcPct val="134600"/>
              </a:lnSpc>
              <a:spcBef>
                <a:spcPts val="434"/>
              </a:spcBef>
            </a:pPr>
            <a:r>
              <a:rPr dirty="0" sz="2600" spc="60" b="1">
                <a:solidFill>
                  <a:srgbClr val="454140"/>
                </a:solidFill>
                <a:latin typeface="Trebuchet MS"/>
                <a:cs typeface="Trebuchet MS"/>
              </a:rPr>
              <a:t>Seniors</a:t>
            </a:r>
            <a:r>
              <a:rPr dirty="0" sz="2600" spc="-114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60" b="1">
                <a:solidFill>
                  <a:srgbClr val="454140"/>
                </a:solidFill>
                <a:latin typeface="Trebuchet MS"/>
                <a:cs typeface="Trebuchet MS"/>
              </a:rPr>
              <a:t>struggle</a:t>
            </a:r>
            <a:r>
              <a:rPr dirty="0" sz="2600" spc="-114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70" b="1">
                <a:solidFill>
                  <a:srgbClr val="454140"/>
                </a:solidFill>
                <a:latin typeface="Trebuchet MS"/>
                <a:cs typeface="Trebuchet MS"/>
              </a:rPr>
              <a:t>to</a:t>
            </a:r>
            <a:r>
              <a:rPr dirty="0" sz="2600" spc="-114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454140"/>
                </a:solidFill>
                <a:latin typeface="Trebuchet MS"/>
                <a:cs typeface="Trebuchet MS"/>
              </a:rPr>
              <a:t>identify</a:t>
            </a:r>
            <a:r>
              <a:rPr dirty="0" sz="2600" spc="-11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60" b="1">
                <a:solidFill>
                  <a:srgbClr val="454140"/>
                </a:solidFill>
                <a:latin typeface="Trebuchet MS"/>
                <a:cs typeface="Trebuchet MS"/>
              </a:rPr>
              <a:t>threats</a:t>
            </a:r>
            <a:r>
              <a:rPr dirty="0" sz="2600" spc="-114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600" spc="110" b="1">
                <a:solidFill>
                  <a:srgbClr val="454140"/>
                </a:solidFill>
                <a:latin typeface="Trebuchet MS"/>
                <a:cs typeface="Trebuchet MS"/>
              </a:rPr>
              <a:t>because </a:t>
            </a:r>
            <a:r>
              <a:rPr dirty="0" sz="2600" spc="-10" b="1">
                <a:solidFill>
                  <a:srgbClr val="454140"/>
                </a:solidFill>
                <a:latin typeface="Trebuchet MS"/>
                <a:cs typeface="Trebuchet MS"/>
              </a:rPr>
              <a:t>they:</a:t>
            </a:r>
            <a:endParaRPr sz="2600">
              <a:latin typeface="Trebuchet MS"/>
              <a:cs typeface="Trebuchet MS"/>
            </a:endParaRPr>
          </a:p>
          <a:p>
            <a:pPr marL="404495">
              <a:lnSpc>
                <a:spcPct val="100000"/>
              </a:lnSpc>
              <a:spcBef>
                <a:spcPts val="1470"/>
              </a:spcBef>
            </a:pPr>
            <a:r>
              <a:rPr dirty="0" sz="2600" spc="100">
                <a:solidFill>
                  <a:srgbClr val="454140"/>
                </a:solidFill>
                <a:latin typeface="Tahoma"/>
                <a:cs typeface="Tahoma"/>
              </a:rPr>
              <a:t>Cannot</a:t>
            </a:r>
            <a:r>
              <a:rPr dirty="0" sz="26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80">
                <a:solidFill>
                  <a:srgbClr val="454140"/>
                </a:solidFill>
                <a:latin typeface="Tahoma"/>
                <a:cs typeface="Tahoma"/>
              </a:rPr>
              <a:t>recognise</a:t>
            </a:r>
            <a:r>
              <a:rPr dirty="0" sz="2600" spc="-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evolving</a:t>
            </a:r>
            <a:r>
              <a:rPr dirty="0" sz="2600" spc="-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6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454140"/>
                </a:solidFill>
                <a:latin typeface="Tahoma"/>
                <a:cs typeface="Tahoma"/>
              </a:rPr>
              <a:t>patterns</a:t>
            </a:r>
            <a:endParaRPr sz="2600">
              <a:latin typeface="Tahoma"/>
              <a:cs typeface="Tahoma"/>
            </a:endParaRPr>
          </a:p>
          <a:p>
            <a:pPr marL="404495" marR="211454">
              <a:lnSpc>
                <a:spcPct val="122700"/>
              </a:lnSpc>
              <a:spcBef>
                <a:spcPts val="1880"/>
              </a:spcBef>
            </a:pPr>
            <a:r>
              <a:rPr dirty="0" sz="2600" spc="90">
                <a:solidFill>
                  <a:srgbClr val="454140"/>
                </a:solidFill>
                <a:latin typeface="Tahoma"/>
                <a:cs typeface="Tahoma"/>
              </a:rPr>
              <a:t>Respond</a:t>
            </a:r>
            <a:r>
              <a:rPr dirty="0" sz="2600" spc="1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600" spc="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454140"/>
                </a:solidFill>
                <a:latin typeface="Tahoma"/>
                <a:cs typeface="Tahoma"/>
              </a:rPr>
              <a:t>fear-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based,</a:t>
            </a:r>
            <a:r>
              <a:rPr dirty="0" sz="2600" spc="1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urgent</a:t>
            </a:r>
            <a:r>
              <a:rPr dirty="0" sz="2600" spc="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45">
                <a:solidFill>
                  <a:srgbClr val="454140"/>
                </a:solidFill>
                <a:latin typeface="Tahoma"/>
                <a:cs typeface="Tahoma"/>
              </a:rPr>
              <a:t>messaging </a:t>
            </a:r>
            <a:r>
              <a:rPr dirty="0" sz="2600" spc="80">
                <a:solidFill>
                  <a:srgbClr val="454140"/>
                </a:solidFill>
                <a:latin typeface="Tahoma"/>
                <a:cs typeface="Tahoma"/>
              </a:rPr>
              <a:t>Misinterpret</a:t>
            </a:r>
            <a:r>
              <a:rPr dirty="0" sz="26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454140"/>
                </a:solidFill>
                <a:latin typeface="Tahoma"/>
                <a:cs typeface="Tahoma"/>
              </a:rPr>
              <a:t>suspicious</a:t>
            </a:r>
            <a:r>
              <a:rPr dirty="0" sz="26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454140"/>
                </a:solidFill>
                <a:latin typeface="Tahoma"/>
                <a:cs typeface="Tahoma"/>
              </a:rPr>
              <a:t>links</a:t>
            </a:r>
            <a:endParaRPr sz="2600">
              <a:latin typeface="Tahoma"/>
              <a:cs typeface="Tahoma"/>
            </a:endParaRPr>
          </a:p>
          <a:p>
            <a:pPr marL="404495">
              <a:lnSpc>
                <a:spcPct val="100000"/>
              </a:lnSpc>
              <a:spcBef>
                <a:spcPts val="1540"/>
              </a:spcBef>
            </a:pP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Trust</a:t>
            </a:r>
            <a:r>
              <a:rPr dirty="0" sz="260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unfamiliar </a:t>
            </a:r>
            <a:r>
              <a:rPr dirty="0" sz="2600" spc="80">
                <a:solidFill>
                  <a:srgbClr val="454140"/>
                </a:solidFill>
                <a:latin typeface="Tahoma"/>
                <a:cs typeface="Tahoma"/>
              </a:rPr>
              <a:t>numbers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6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600" spc="80">
                <a:solidFill>
                  <a:srgbClr val="454140"/>
                </a:solidFill>
                <a:latin typeface="Tahoma"/>
                <a:cs typeface="Tahoma"/>
              </a:rPr>
              <a:t>senders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87474" y="7370415"/>
            <a:ext cx="5255260" cy="2116455"/>
            <a:chOff x="987474" y="7370415"/>
            <a:chExt cx="5255260" cy="2116455"/>
          </a:xfrm>
        </p:grpSpPr>
        <p:sp>
          <p:nvSpPr>
            <p:cNvPr id="15" name="object 15" descr=""/>
            <p:cNvSpPr/>
            <p:nvPr/>
          </p:nvSpPr>
          <p:spPr>
            <a:xfrm>
              <a:off x="992237" y="7375177"/>
              <a:ext cx="5245735" cy="2106930"/>
            </a:xfrm>
            <a:custGeom>
              <a:avLst/>
              <a:gdLst/>
              <a:ahLst/>
              <a:cxnLst/>
              <a:rect l="l" t="t" r="r" b="b"/>
              <a:pathLst>
                <a:path w="5245735" h="2106929">
                  <a:moveTo>
                    <a:pt x="5125973" y="2106358"/>
                  </a:moveTo>
                  <a:lnTo>
                    <a:pt x="119443" y="2106358"/>
                  </a:lnTo>
                  <a:lnTo>
                    <a:pt x="73040" y="2097010"/>
                  </a:lnTo>
                  <a:lnTo>
                    <a:pt x="35057" y="2071508"/>
                  </a:lnTo>
                  <a:lnTo>
                    <a:pt x="9421" y="2033666"/>
                  </a:lnTo>
                  <a:lnTo>
                    <a:pt x="0" y="1987295"/>
                  </a:lnTo>
                  <a:lnTo>
                    <a:pt x="0" y="119062"/>
                  </a:lnTo>
                  <a:lnTo>
                    <a:pt x="9380" y="72732"/>
                  </a:lnTo>
                  <a:lnTo>
                    <a:pt x="34968" y="34885"/>
                  </a:lnTo>
                  <a:lnTo>
                    <a:pt x="72933" y="9361"/>
                  </a:lnTo>
                  <a:lnTo>
                    <a:pt x="119443" y="0"/>
                  </a:lnTo>
                  <a:lnTo>
                    <a:pt x="5126069" y="0"/>
                  </a:lnTo>
                  <a:lnTo>
                    <a:pt x="5172524" y="9361"/>
                  </a:lnTo>
                  <a:lnTo>
                    <a:pt x="5210460" y="34885"/>
                  </a:lnTo>
                  <a:lnTo>
                    <a:pt x="5236038" y="72732"/>
                  </a:lnTo>
                  <a:lnTo>
                    <a:pt x="5245417" y="119062"/>
                  </a:lnTo>
                  <a:lnTo>
                    <a:pt x="5245417" y="1987295"/>
                  </a:lnTo>
                  <a:lnTo>
                    <a:pt x="5236036" y="2033666"/>
                  </a:lnTo>
                  <a:lnTo>
                    <a:pt x="5210448" y="2071508"/>
                  </a:lnTo>
                  <a:lnTo>
                    <a:pt x="5172484" y="2097010"/>
                  </a:lnTo>
                  <a:lnTo>
                    <a:pt x="5125973" y="2106358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87474" y="7370415"/>
              <a:ext cx="5255260" cy="2116455"/>
            </a:xfrm>
            <a:custGeom>
              <a:avLst/>
              <a:gdLst/>
              <a:ahLst/>
              <a:cxnLst/>
              <a:rect l="l" t="t" r="r" b="b"/>
              <a:pathLst>
                <a:path w="5255260" h="2116454">
                  <a:moveTo>
                    <a:pt x="124206" y="2115883"/>
                  </a:moveTo>
                  <a:lnTo>
                    <a:pt x="75866" y="2106153"/>
                  </a:lnTo>
                  <a:lnTo>
                    <a:pt x="36385" y="2079616"/>
                  </a:lnTo>
                  <a:lnTo>
                    <a:pt x="9763" y="2040257"/>
                  </a:lnTo>
                  <a:lnTo>
                    <a:pt x="0" y="1992058"/>
                  </a:lnTo>
                  <a:lnTo>
                    <a:pt x="0" y="123825"/>
                  </a:lnTo>
                  <a:lnTo>
                    <a:pt x="9763" y="75625"/>
                  </a:lnTo>
                  <a:lnTo>
                    <a:pt x="36385" y="36266"/>
                  </a:lnTo>
                  <a:lnTo>
                    <a:pt x="75866" y="9730"/>
                  </a:lnTo>
                  <a:lnTo>
                    <a:pt x="124206" y="0"/>
                  </a:lnTo>
                  <a:lnTo>
                    <a:pt x="5130831" y="0"/>
                  </a:lnTo>
                  <a:lnTo>
                    <a:pt x="5130831" y="4762"/>
                  </a:lnTo>
                  <a:lnTo>
                    <a:pt x="124206" y="4762"/>
                  </a:lnTo>
                  <a:lnTo>
                    <a:pt x="124206" y="9525"/>
                  </a:lnTo>
                  <a:lnTo>
                    <a:pt x="79565" y="18517"/>
                  </a:lnTo>
                  <a:lnTo>
                    <a:pt x="43112" y="43029"/>
                  </a:lnTo>
                  <a:lnTo>
                    <a:pt x="18536" y="79364"/>
                  </a:lnTo>
                  <a:lnTo>
                    <a:pt x="9525" y="123825"/>
                  </a:lnTo>
                  <a:lnTo>
                    <a:pt x="9525" y="1992058"/>
                  </a:lnTo>
                  <a:lnTo>
                    <a:pt x="18536" y="2036559"/>
                  </a:lnTo>
                  <a:lnTo>
                    <a:pt x="43112" y="2072889"/>
                  </a:lnTo>
                  <a:lnTo>
                    <a:pt x="79565" y="2097379"/>
                  </a:lnTo>
                  <a:lnTo>
                    <a:pt x="124206" y="2106358"/>
                  </a:lnTo>
                  <a:lnTo>
                    <a:pt x="5178150" y="2106358"/>
                  </a:lnTo>
                  <a:lnTo>
                    <a:pt x="5154491" y="2111120"/>
                  </a:lnTo>
                  <a:lnTo>
                    <a:pt x="124206" y="2111120"/>
                  </a:lnTo>
                  <a:lnTo>
                    <a:pt x="124206" y="2115883"/>
                  </a:lnTo>
                  <a:close/>
                </a:path>
                <a:path w="5255260" h="2116454">
                  <a:moveTo>
                    <a:pt x="5178150" y="2106358"/>
                  </a:moveTo>
                  <a:lnTo>
                    <a:pt x="5130831" y="2106358"/>
                  </a:lnTo>
                  <a:lnTo>
                    <a:pt x="5175405" y="2097379"/>
                  </a:lnTo>
                  <a:lnTo>
                    <a:pt x="5211871" y="2072889"/>
                  </a:lnTo>
                  <a:lnTo>
                    <a:pt x="5236473" y="2036559"/>
                  </a:lnTo>
                  <a:lnTo>
                    <a:pt x="5245512" y="1992058"/>
                  </a:lnTo>
                  <a:lnTo>
                    <a:pt x="5245512" y="123825"/>
                  </a:lnTo>
                  <a:lnTo>
                    <a:pt x="5236509" y="79364"/>
                  </a:lnTo>
                  <a:lnTo>
                    <a:pt x="5211949" y="43029"/>
                  </a:lnTo>
                  <a:lnTo>
                    <a:pt x="5175492" y="18517"/>
                  </a:lnTo>
                  <a:lnTo>
                    <a:pt x="5130831" y="9525"/>
                  </a:lnTo>
                  <a:lnTo>
                    <a:pt x="124206" y="9525"/>
                  </a:lnTo>
                  <a:lnTo>
                    <a:pt x="124206" y="4762"/>
                  </a:lnTo>
                  <a:lnTo>
                    <a:pt x="5130831" y="4762"/>
                  </a:lnTo>
                  <a:lnTo>
                    <a:pt x="5130831" y="0"/>
                  </a:lnTo>
                  <a:lnTo>
                    <a:pt x="5179170" y="9730"/>
                  </a:lnTo>
                  <a:lnTo>
                    <a:pt x="5218651" y="36266"/>
                  </a:lnTo>
                  <a:lnTo>
                    <a:pt x="5245274" y="75625"/>
                  </a:lnTo>
                  <a:lnTo>
                    <a:pt x="5255037" y="123825"/>
                  </a:lnTo>
                  <a:lnTo>
                    <a:pt x="5255037" y="1992058"/>
                  </a:lnTo>
                  <a:lnTo>
                    <a:pt x="5245274" y="2040257"/>
                  </a:lnTo>
                  <a:lnTo>
                    <a:pt x="5218651" y="2079616"/>
                  </a:lnTo>
                  <a:lnTo>
                    <a:pt x="5179170" y="2106153"/>
                  </a:lnTo>
                  <a:lnTo>
                    <a:pt x="5178150" y="2106358"/>
                  </a:lnTo>
                  <a:close/>
                </a:path>
                <a:path w="5255260" h="2116454">
                  <a:moveTo>
                    <a:pt x="5130831" y="2115883"/>
                  </a:moveTo>
                  <a:lnTo>
                    <a:pt x="124206" y="2115883"/>
                  </a:lnTo>
                  <a:lnTo>
                    <a:pt x="124206" y="2111120"/>
                  </a:lnTo>
                  <a:lnTo>
                    <a:pt x="5130831" y="2111120"/>
                  </a:lnTo>
                  <a:lnTo>
                    <a:pt x="5130831" y="2115883"/>
                  </a:lnTo>
                  <a:close/>
                </a:path>
                <a:path w="5255260" h="2116454">
                  <a:moveTo>
                    <a:pt x="5130831" y="2115883"/>
                  </a:moveTo>
                  <a:lnTo>
                    <a:pt x="5130831" y="2111120"/>
                  </a:lnTo>
                  <a:lnTo>
                    <a:pt x="5154491" y="2111120"/>
                  </a:lnTo>
                  <a:lnTo>
                    <a:pt x="5130831" y="211588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72579" y="7397057"/>
            <a:ext cx="446024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29">
                <a:solidFill>
                  <a:srgbClr val="454140"/>
                </a:solidFill>
                <a:latin typeface="Cambria"/>
                <a:cs typeface="Cambria"/>
              </a:rPr>
              <a:t>Financial</a:t>
            </a:r>
            <a:r>
              <a:rPr dirty="0" sz="2750" spc="21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15">
                <a:solidFill>
                  <a:srgbClr val="454140"/>
                </a:solidFill>
                <a:latin typeface="Cambria"/>
                <a:cs typeface="Cambria"/>
              </a:rPr>
              <a:t>Loss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Life</a:t>
            </a:r>
            <a:r>
              <a:rPr dirty="0" sz="215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savings</a:t>
            </a:r>
            <a:r>
              <a:rPr dirty="0" sz="215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25">
                <a:solidFill>
                  <a:srgbClr val="454140"/>
                </a:solidFill>
                <a:latin typeface="Tahoma"/>
                <a:cs typeface="Tahoma"/>
              </a:rPr>
              <a:t>compromised</a:t>
            </a:r>
            <a:r>
              <a:rPr dirty="0" sz="215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454140"/>
                </a:solidFill>
                <a:latin typeface="Tahoma"/>
                <a:cs typeface="Tahoma"/>
              </a:rPr>
              <a:t>through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digital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40">
                <a:solidFill>
                  <a:srgbClr val="454140"/>
                </a:solidFill>
                <a:latin typeface="Tahoma"/>
                <a:cs typeface="Tahoma"/>
              </a:rPr>
              <a:t>fraud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516439" y="7370415"/>
            <a:ext cx="5255260" cy="2116455"/>
            <a:chOff x="6516439" y="7370415"/>
            <a:chExt cx="5255260" cy="2116455"/>
          </a:xfrm>
        </p:grpSpPr>
        <p:sp>
          <p:nvSpPr>
            <p:cNvPr id="19" name="object 19" descr=""/>
            <p:cNvSpPr/>
            <p:nvPr/>
          </p:nvSpPr>
          <p:spPr>
            <a:xfrm>
              <a:off x="6521202" y="7375177"/>
              <a:ext cx="5245735" cy="2106930"/>
            </a:xfrm>
            <a:custGeom>
              <a:avLst/>
              <a:gdLst/>
              <a:ahLst/>
              <a:cxnLst/>
              <a:rect l="l" t="t" r="r" b="b"/>
              <a:pathLst>
                <a:path w="5245734" h="2106929">
                  <a:moveTo>
                    <a:pt x="5125973" y="2106358"/>
                  </a:moveTo>
                  <a:lnTo>
                    <a:pt x="119443" y="2106358"/>
                  </a:lnTo>
                  <a:lnTo>
                    <a:pt x="73040" y="2097010"/>
                  </a:lnTo>
                  <a:lnTo>
                    <a:pt x="35057" y="2071508"/>
                  </a:lnTo>
                  <a:lnTo>
                    <a:pt x="9421" y="2033666"/>
                  </a:lnTo>
                  <a:lnTo>
                    <a:pt x="0" y="1987295"/>
                  </a:lnTo>
                  <a:lnTo>
                    <a:pt x="0" y="119062"/>
                  </a:lnTo>
                  <a:lnTo>
                    <a:pt x="9380" y="72732"/>
                  </a:lnTo>
                  <a:lnTo>
                    <a:pt x="34968" y="34885"/>
                  </a:lnTo>
                  <a:lnTo>
                    <a:pt x="72933" y="9361"/>
                  </a:lnTo>
                  <a:lnTo>
                    <a:pt x="119443" y="0"/>
                  </a:lnTo>
                  <a:lnTo>
                    <a:pt x="5126068" y="0"/>
                  </a:lnTo>
                  <a:lnTo>
                    <a:pt x="5172524" y="9361"/>
                  </a:lnTo>
                  <a:lnTo>
                    <a:pt x="5210460" y="34885"/>
                  </a:lnTo>
                  <a:lnTo>
                    <a:pt x="5236038" y="72732"/>
                  </a:lnTo>
                  <a:lnTo>
                    <a:pt x="5245417" y="119062"/>
                  </a:lnTo>
                  <a:lnTo>
                    <a:pt x="5245417" y="1987295"/>
                  </a:lnTo>
                  <a:lnTo>
                    <a:pt x="5236036" y="2033666"/>
                  </a:lnTo>
                  <a:lnTo>
                    <a:pt x="5210448" y="2071508"/>
                  </a:lnTo>
                  <a:lnTo>
                    <a:pt x="5172483" y="2097010"/>
                  </a:lnTo>
                  <a:lnTo>
                    <a:pt x="5125973" y="2106358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16439" y="7370415"/>
              <a:ext cx="5255260" cy="2116455"/>
            </a:xfrm>
            <a:custGeom>
              <a:avLst/>
              <a:gdLst/>
              <a:ahLst/>
              <a:cxnLst/>
              <a:rect l="l" t="t" r="r" b="b"/>
              <a:pathLst>
                <a:path w="5255259" h="2116454">
                  <a:moveTo>
                    <a:pt x="124206" y="2115883"/>
                  </a:moveTo>
                  <a:lnTo>
                    <a:pt x="75866" y="2106153"/>
                  </a:lnTo>
                  <a:lnTo>
                    <a:pt x="36385" y="2079616"/>
                  </a:lnTo>
                  <a:lnTo>
                    <a:pt x="9763" y="2040257"/>
                  </a:lnTo>
                  <a:lnTo>
                    <a:pt x="0" y="1992058"/>
                  </a:lnTo>
                  <a:lnTo>
                    <a:pt x="0" y="123825"/>
                  </a:lnTo>
                  <a:lnTo>
                    <a:pt x="9763" y="75625"/>
                  </a:lnTo>
                  <a:lnTo>
                    <a:pt x="36385" y="36266"/>
                  </a:lnTo>
                  <a:lnTo>
                    <a:pt x="75866" y="9730"/>
                  </a:lnTo>
                  <a:lnTo>
                    <a:pt x="124206" y="0"/>
                  </a:lnTo>
                  <a:lnTo>
                    <a:pt x="5130831" y="0"/>
                  </a:lnTo>
                  <a:lnTo>
                    <a:pt x="5130831" y="4762"/>
                  </a:lnTo>
                  <a:lnTo>
                    <a:pt x="124206" y="4762"/>
                  </a:lnTo>
                  <a:lnTo>
                    <a:pt x="124206" y="9525"/>
                  </a:lnTo>
                  <a:lnTo>
                    <a:pt x="79565" y="18517"/>
                  </a:lnTo>
                  <a:lnTo>
                    <a:pt x="43112" y="43029"/>
                  </a:lnTo>
                  <a:lnTo>
                    <a:pt x="18536" y="79364"/>
                  </a:lnTo>
                  <a:lnTo>
                    <a:pt x="9525" y="123825"/>
                  </a:lnTo>
                  <a:lnTo>
                    <a:pt x="9525" y="1992058"/>
                  </a:lnTo>
                  <a:lnTo>
                    <a:pt x="18536" y="2036559"/>
                  </a:lnTo>
                  <a:lnTo>
                    <a:pt x="43112" y="2072889"/>
                  </a:lnTo>
                  <a:lnTo>
                    <a:pt x="79565" y="2097379"/>
                  </a:lnTo>
                  <a:lnTo>
                    <a:pt x="124206" y="2106358"/>
                  </a:lnTo>
                  <a:lnTo>
                    <a:pt x="5178150" y="2106358"/>
                  </a:lnTo>
                  <a:lnTo>
                    <a:pt x="5154490" y="2111120"/>
                  </a:lnTo>
                  <a:lnTo>
                    <a:pt x="124206" y="2111120"/>
                  </a:lnTo>
                  <a:lnTo>
                    <a:pt x="124206" y="2115883"/>
                  </a:lnTo>
                  <a:close/>
                </a:path>
                <a:path w="5255259" h="2116454">
                  <a:moveTo>
                    <a:pt x="5178150" y="2106358"/>
                  </a:moveTo>
                  <a:lnTo>
                    <a:pt x="5130831" y="2106358"/>
                  </a:lnTo>
                  <a:lnTo>
                    <a:pt x="5175406" y="2097379"/>
                  </a:lnTo>
                  <a:lnTo>
                    <a:pt x="5211872" y="2072889"/>
                  </a:lnTo>
                  <a:lnTo>
                    <a:pt x="5236474" y="2036559"/>
                  </a:lnTo>
                  <a:lnTo>
                    <a:pt x="5245513" y="1992058"/>
                  </a:lnTo>
                  <a:lnTo>
                    <a:pt x="5245513" y="123825"/>
                  </a:lnTo>
                  <a:lnTo>
                    <a:pt x="5236509" y="79364"/>
                  </a:lnTo>
                  <a:lnTo>
                    <a:pt x="5211949" y="43029"/>
                  </a:lnTo>
                  <a:lnTo>
                    <a:pt x="5175492" y="18517"/>
                  </a:lnTo>
                  <a:lnTo>
                    <a:pt x="5130831" y="9525"/>
                  </a:lnTo>
                  <a:lnTo>
                    <a:pt x="124206" y="9525"/>
                  </a:lnTo>
                  <a:lnTo>
                    <a:pt x="124206" y="4762"/>
                  </a:lnTo>
                  <a:lnTo>
                    <a:pt x="5130831" y="4762"/>
                  </a:lnTo>
                  <a:lnTo>
                    <a:pt x="5130831" y="0"/>
                  </a:lnTo>
                  <a:lnTo>
                    <a:pt x="5179170" y="9730"/>
                  </a:lnTo>
                  <a:lnTo>
                    <a:pt x="5218651" y="36266"/>
                  </a:lnTo>
                  <a:lnTo>
                    <a:pt x="5245274" y="75625"/>
                  </a:lnTo>
                  <a:lnTo>
                    <a:pt x="5255037" y="123825"/>
                  </a:lnTo>
                  <a:lnTo>
                    <a:pt x="5255037" y="1992058"/>
                  </a:lnTo>
                  <a:lnTo>
                    <a:pt x="5245274" y="2040257"/>
                  </a:lnTo>
                  <a:lnTo>
                    <a:pt x="5218651" y="2079616"/>
                  </a:lnTo>
                  <a:lnTo>
                    <a:pt x="5179170" y="2106153"/>
                  </a:lnTo>
                  <a:lnTo>
                    <a:pt x="5178150" y="2106358"/>
                  </a:lnTo>
                  <a:close/>
                </a:path>
                <a:path w="5255259" h="2116454">
                  <a:moveTo>
                    <a:pt x="5130831" y="2115883"/>
                  </a:moveTo>
                  <a:lnTo>
                    <a:pt x="124206" y="2115883"/>
                  </a:lnTo>
                  <a:lnTo>
                    <a:pt x="124206" y="2111120"/>
                  </a:lnTo>
                  <a:lnTo>
                    <a:pt x="5130831" y="2111120"/>
                  </a:lnTo>
                  <a:lnTo>
                    <a:pt x="5130831" y="2115883"/>
                  </a:lnTo>
                  <a:close/>
                </a:path>
                <a:path w="5255259" h="2116454">
                  <a:moveTo>
                    <a:pt x="5130831" y="2115883"/>
                  </a:moveTo>
                  <a:lnTo>
                    <a:pt x="5130831" y="2111120"/>
                  </a:lnTo>
                  <a:lnTo>
                    <a:pt x="5154490" y="2111120"/>
                  </a:lnTo>
                  <a:lnTo>
                    <a:pt x="5130831" y="211588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801545" y="7397057"/>
            <a:ext cx="341122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85">
                <a:solidFill>
                  <a:srgbClr val="454140"/>
                </a:solidFill>
                <a:latin typeface="Cambria"/>
                <a:cs typeface="Cambria"/>
              </a:rPr>
              <a:t>Emotional</a:t>
            </a:r>
            <a:r>
              <a:rPr dirty="0" sz="2750" spc="20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165">
                <a:solidFill>
                  <a:srgbClr val="454140"/>
                </a:solidFill>
                <a:latin typeface="Cambria"/>
                <a:cs typeface="Cambria"/>
              </a:rPr>
              <a:t>Distress</a:t>
            </a:r>
            <a:endParaRPr sz="2750">
              <a:latin typeface="Cambria"/>
              <a:cs typeface="Cambria"/>
            </a:endParaRPr>
          </a:p>
          <a:p>
            <a:pPr marL="12700" marR="104139">
              <a:lnSpc>
                <a:spcPct val="136600"/>
              </a:lnSpc>
              <a:spcBef>
                <a:spcPts val="560"/>
              </a:spcBef>
            </a:pP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Anxiety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loss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of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454140"/>
                </a:solidFill>
                <a:latin typeface="Tahoma"/>
                <a:cs typeface="Tahoma"/>
              </a:rPr>
              <a:t>digital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confidence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2045404" y="7370415"/>
            <a:ext cx="5255260" cy="2116455"/>
            <a:chOff x="12045404" y="7370415"/>
            <a:chExt cx="5255260" cy="2116455"/>
          </a:xfrm>
        </p:grpSpPr>
        <p:sp>
          <p:nvSpPr>
            <p:cNvPr id="23" name="object 23" descr=""/>
            <p:cNvSpPr/>
            <p:nvPr/>
          </p:nvSpPr>
          <p:spPr>
            <a:xfrm>
              <a:off x="12050167" y="7375177"/>
              <a:ext cx="5245735" cy="2106930"/>
            </a:xfrm>
            <a:custGeom>
              <a:avLst/>
              <a:gdLst/>
              <a:ahLst/>
              <a:cxnLst/>
              <a:rect l="l" t="t" r="r" b="b"/>
              <a:pathLst>
                <a:path w="5245734" h="2106929">
                  <a:moveTo>
                    <a:pt x="5125973" y="2106358"/>
                  </a:moveTo>
                  <a:lnTo>
                    <a:pt x="119443" y="2106358"/>
                  </a:lnTo>
                  <a:lnTo>
                    <a:pt x="73040" y="2097010"/>
                  </a:lnTo>
                  <a:lnTo>
                    <a:pt x="35057" y="2071508"/>
                  </a:lnTo>
                  <a:lnTo>
                    <a:pt x="9421" y="2033666"/>
                  </a:lnTo>
                  <a:lnTo>
                    <a:pt x="0" y="1987295"/>
                  </a:lnTo>
                  <a:lnTo>
                    <a:pt x="0" y="119062"/>
                  </a:lnTo>
                  <a:lnTo>
                    <a:pt x="9380" y="72732"/>
                  </a:lnTo>
                  <a:lnTo>
                    <a:pt x="34968" y="34885"/>
                  </a:lnTo>
                  <a:lnTo>
                    <a:pt x="72933" y="9361"/>
                  </a:lnTo>
                  <a:lnTo>
                    <a:pt x="119443" y="0"/>
                  </a:lnTo>
                  <a:lnTo>
                    <a:pt x="5126068" y="0"/>
                  </a:lnTo>
                  <a:lnTo>
                    <a:pt x="5172524" y="9361"/>
                  </a:lnTo>
                  <a:lnTo>
                    <a:pt x="5210460" y="34885"/>
                  </a:lnTo>
                  <a:lnTo>
                    <a:pt x="5236038" y="72732"/>
                  </a:lnTo>
                  <a:lnTo>
                    <a:pt x="5245417" y="119062"/>
                  </a:lnTo>
                  <a:lnTo>
                    <a:pt x="5245417" y="1987295"/>
                  </a:lnTo>
                  <a:lnTo>
                    <a:pt x="5236036" y="2033666"/>
                  </a:lnTo>
                  <a:lnTo>
                    <a:pt x="5210448" y="2071508"/>
                  </a:lnTo>
                  <a:lnTo>
                    <a:pt x="5172483" y="2097010"/>
                  </a:lnTo>
                  <a:lnTo>
                    <a:pt x="5125973" y="2106358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045404" y="7370415"/>
              <a:ext cx="5255260" cy="2116455"/>
            </a:xfrm>
            <a:custGeom>
              <a:avLst/>
              <a:gdLst/>
              <a:ahLst/>
              <a:cxnLst/>
              <a:rect l="l" t="t" r="r" b="b"/>
              <a:pathLst>
                <a:path w="5255259" h="2116454">
                  <a:moveTo>
                    <a:pt x="124206" y="2115883"/>
                  </a:moveTo>
                  <a:lnTo>
                    <a:pt x="75866" y="2106153"/>
                  </a:lnTo>
                  <a:lnTo>
                    <a:pt x="36385" y="2079616"/>
                  </a:lnTo>
                  <a:lnTo>
                    <a:pt x="9763" y="2040257"/>
                  </a:lnTo>
                  <a:lnTo>
                    <a:pt x="0" y="1992058"/>
                  </a:lnTo>
                  <a:lnTo>
                    <a:pt x="0" y="123825"/>
                  </a:lnTo>
                  <a:lnTo>
                    <a:pt x="9763" y="75625"/>
                  </a:lnTo>
                  <a:lnTo>
                    <a:pt x="36385" y="36266"/>
                  </a:lnTo>
                  <a:lnTo>
                    <a:pt x="75866" y="9730"/>
                  </a:lnTo>
                  <a:lnTo>
                    <a:pt x="124206" y="0"/>
                  </a:lnTo>
                  <a:lnTo>
                    <a:pt x="5130831" y="0"/>
                  </a:lnTo>
                  <a:lnTo>
                    <a:pt x="5130831" y="4762"/>
                  </a:lnTo>
                  <a:lnTo>
                    <a:pt x="124206" y="4762"/>
                  </a:lnTo>
                  <a:lnTo>
                    <a:pt x="124206" y="9525"/>
                  </a:lnTo>
                  <a:lnTo>
                    <a:pt x="79565" y="18517"/>
                  </a:lnTo>
                  <a:lnTo>
                    <a:pt x="43112" y="43029"/>
                  </a:lnTo>
                  <a:lnTo>
                    <a:pt x="18536" y="79364"/>
                  </a:lnTo>
                  <a:lnTo>
                    <a:pt x="9525" y="123825"/>
                  </a:lnTo>
                  <a:lnTo>
                    <a:pt x="9525" y="1992058"/>
                  </a:lnTo>
                  <a:lnTo>
                    <a:pt x="18536" y="2036559"/>
                  </a:lnTo>
                  <a:lnTo>
                    <a:pt x="43112" y="2072889"/>
                  </a:lnTo>
                  <a:lnTo>
                    <a:pt x="79565" y="2097379"/>
                  </a:lnTo>
                  <a:lnTo>
                    <a:pt x="124206" y="2106358"/>
                  </a:lnTo>
                  <a:lnTo>
                    <a:pt x="5178150" y="2106358"/>
                  </a:lnTo>
                  <a:lnTo>
                    <a:pt x="5154491" y="2111120"/>
                  </a:lnTo>
                  <a:lnTo>
                    <a:pt x="124206" y="2111120"/>
                  </a:lnTo>
                  <a:lnTo>
                    <a:pt x="124206" y="2115883"/>
                  </a:lnTo>
                  <a:close/>
                </a:path>
                <a:path w="5255259" h="2116454">
                  <a:moveTo>
                    <a:pt x="5178150" y="2106358"/>
                  </a:moveTo>
                  <a:lnTo>
                    <a:pt x="5130831" y="2106358"/>
                  </a:lnTo>
                  <a:lnTo>
                    <a:pt x="5175405" y="2097379"/>
                  </a:lnTo>
                  <a:lnTo>
                    <a:pt x="5211871" y="2072889"/>
                  </a:lnTo>
                  <a:lnTo>
                    <a:pt x="5236473" y="2036559"/>
                  </a:lnTo>
                  <a:lnTo>
                    <a:pt x="5245512" y="1992058"/>
                  </a:lnTo>
                  <a:lnTo>
                    <a:pt x="5245512" y="123825"/>
                  </a:lnTo>
                  <a:lnTo>
                    <a:pt x="5236509" y="79364"/>
                  </a:lnTo>
                  <a:lnTo>
                    <a:pt x="5211949" y="43029"/>
                  </a:lnTo>
                  <a:lnTo>
                    <a:pt x="5175492" y="18517"/>
                  </a:lnTo>
                  <a:lnTo>
                    <a:pt x="5130831" y="9525"/>
                  </a:lnTo>
                  <a:lnTo>
                    <a:pt x="124206" y="9525"/>
                  </a:lnTo>
                  <a:lnTo>
                    <a:pt x="124206" y="4762"/>
                  </a:lnTo>
                  <a:lnTo>
                    <a:pt x="5130831" y="4762"/>
                  </a:lnTo>
                  <a:lnTo>
                    <a:pt x="5130831" y="0"/>
                  </a:lnTo>
                  <a:lnTo>
                    <a:pt x="5179170" y="9730"/>
                  </a:lnTo>
                  <a:lnTo>
                    <a:pt x="5218652" y="36266"/>
                  </a:lnTo>
                  <a:lnTo>
                    <a:pt x="5245274" y="75625"/>
                  </a:lnTo>
                  <a:lnTo>
                    <a:pt x="5255037" y="123825"/>
                  </a:lnTo>
                  <a:lnTo>
                    <a:pt x="5255037" y="1992058"/>
                  </a:lnTo>
                  <a:lnTo>
                    <a:pt x="5245274" y="2040257"/>
                  </a:lnTo>
                  <a:lnTo>
                    <a:pt x="5218652" y="2079616"/>
                  </a:lnTo>
                  <a:lnTo>
                    <a:pt x="5179170" y="2106153"/>
                  </a:lnTo>
                  <a:lnTo>
                    <a:pt x="5178150" y="2106358"/>
                  </a:lnTo>
                  <a:close/>
                </a:path>
                <a:path w="5255259" h="2116454">
                  <a:moveTo>
                    <a:pt x="5130831" y="2115883"/>
                  </a:moveTo>
                  <a:lnTo>
                    <a:pt x="124206" y="2115883"/>
                  </a:lnTo>
                  <a:lnTo>
                    <a:pt x="124206" y="2111120"/>
                  </a:lnTo>
                  <a:lnTo>
                    <a:pt x="5130831" y="2111120"/>
                  </a:lnTo>
                  <a:lnTo>
                    <a:pt x="5130831" y="2115883"/>
                  </a:lnTo>
                  <a:close/>
                </a:path>
                <a:path w="5255259" h="2116454">
                  <a:moveTo>
                    <a:pt x="5130831" y="2115883"/>
                  </a:moveTo>
                  <a:lnTo>
                    <a:pt x="5130831" y="2111120"/>
                  </a:lnTo>
                  <a:lnTo>
                    <a:pt x="5154491" y="2111120"/>
                  </a:lnTo>
                  <a:lnTo>
                    <a:pt x="5130831" y="211588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2330510" y="7397057"/>
            <a:ext cx="3605529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85">
                <a:solidFill>
                  <a:srgbClr val="454140"/>
                </a:solidFill>
                <a:latin typeface="Cambria"/>
                <a:cs typeface="Cambria"/>
              </a:rPr>
              <a:t>Delayed</a:t>
            </a:r>
            <a:r>
              <a:rPr dirty="0" sz="2750" spc="204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54">
                <a:solidFill>
                  <a:srgbClr val="454140"/>
                </a:solidFill>
                <a:latin typeface="Cambria"/>
                <a:cs typeface="Cambria"/>
              </a:rPr>
              <a:t>Discovery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Families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often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454140"/>
                </a:solidFill>
                <a:latin typeface="Tahoma"/>
                <a:cs typeface="Tahoma"/>
              </a:rPr>
              <a:t>unaware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454140"/>
                </a:solidFill>
                <a:latin typeface="Tahoma"/>
                <a:cs typeface="Tahoma"/>
              </a:rPr>
              <a:t>until </a:t>
            </a: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significant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damage</a:t>
            </a:r>
            <a:r>
              <a:rPr dirty="0" sz="215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20">
                <a:solidFill>
                  <a:srgbClr val="454140"/>
                </a:solidFill>
                <a:latin typeface="Tahoma"/>
                <a:cs typeface="Tahoma"/>
              </a:rPr>
              <a:t>occurs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29999" y="0"/>
            <a:ext cx="6858000" cy="10287000"/>
            <a:chOff x="11429999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8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9" y="0"/>
              <a:ext cx="6857702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9122" y="557262"/>
            <a:ext cx="9055100" cy="1358900"/>
          </a:xfrm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5330"/>
              </a:lnSpc>
              <a:spcBef>
                <a:spcPts val="40"/>
              </a:spcBef>
            </a:pPr>
            <a:r>
              <a:rPr dirty="0" sz="4300" spc="350"/>
              <a:t>Introducing</a:t>
            </a:r>
            <a:r>
              <a:rPr dirty="0" sz="4300" spc="215"/>
              <a:t> </a:t>
            </a:r>
            <a:r>
              <a:rPr dirty="0" sz="4300" spc="530"/>
              <a:t>Scam</a:t>
            </a:r>
            <a:r>
              <a:rPr dirty="0" sz="4300" spc="220"/>
              <a:t> </a:t>
            </a:r>
            <a:r>
              <a:rPr dirty="0" sz="4300" spc="370"/>
              <a:t>Guard:</a:t>
            </a:r>
            <a:r>
              <a:rPr dirty="0" sz="4300" spc="215"/>
              <a:t> </a:t>
            </a:r>
            <a:r>
              <a:rPr dirty="0" sz="4300" spc="340"/>
              <a:t>Real- </a:t>
            </a:r>
            <a:r>
              <a:rPr dirty="0" sz="4300" spc="535"/>
              <a:t>Time</a:t>
            </a:r>
            <a:r>
              <a:rPr dirty="0" sz="4300" spc="204"/>
              <a:t> </a:t>
            </a:r>
            <a:r>
              <a:rPr dirty="0" sz="4300" spc="505"/>
              <a:t>AI</a:t>
            </a:r>
            <a:r>
              <a:rPr dirty="0" sz="4300" spc="204"/>
              <a:t> </a:t>
            </a:r>
            <a:r>
              <a:rPr dirty="0" sz="4300" spc="275"/>
              <a:t>Protection</a:t>
            </a:r>
            <a:endParaRPr sz="4300"/>
          </a:p>
        </p:txBody>
      </p:sp>
      <p:grpSp>
        <p:nvGrpSpPr>
          <p:cNvPr id="6" name="object 6" descr=""/>
          <p:cNvGrpSpPr/>
          <p:nvPr/>
        </p:nvGrpSpPr>
        <p:grpSpPr>
          <a:xfrm>
            <a:off x="743247" y="2301329"/>
            <a:ext cx="9928860" cy="1709420"/>
            <a:chOff x="743247" y="2301329"/>
            <a:chExt cx="9928860" cy="1709420"/>
          </a:xfrm>
        </p:grpSpPr>
        <p:sp>
          <p:nvSpPr>
            <p:cNvPr id="7" name="object 7" descr=""/>
            <p:cNvSpPr/>
            <p:nvPr/>
          </p:nvSpPr>
          <p:spPr>
            <a:xfrm>
              <a:off x="771822" y="2315616"/>
              <a:ext cx="9886315" cy="1680845"/>
            </a:xfrm>
            <a:custGeom>
              <a:avLst/>
              <a:gdLst/>
              <a:ahLst/>
              <a:cxnLst/>
              <a:rect l="l" t="t" r="r" b="b"/>
              <a:pathLst>
                <a:path w="9886315" h="1680845">
                  <a:moveTo>
                    <a:pt x="9747219" y="1680590"/>
                  </a:moveTo>
                  <a:lnTo>
                    <a:pt x="139064" y="1680590"/>
                  </a:lnTo>
                  <a:lnTo>
                    <a:pt x="95085" y="1673595"/>
                  </a:lnTo>
                  <a:lnTo>
                    <a:pt x="56907" y="1654118"/>
                  </a:lnTo>
                  <a:lnTo>
                    <a:pt x="26813" y="1624423"/>
                  </a:lnTo>
                  <a:lnTo>
                    <a:pt x="7083" y="1586773"/>
                  </a:lnTo>
                  <a:lnTo>
                    <a:pt x="0" y="1543431"/>
                  </a:lnTo>
                  <a:lnTo>
                    <a:pt x="0" y="137160"/>
                  </a:lnTo>
                  <a:lnTo>
                    <a:pt x="7092" y="93817"/>
                  </a:lnTo>
                  <a:lnTo>
                    <a:pt x="26840" y="56167"/>
                  </a:lnTo>
                  <a:lnTo>
                    <a:pt x="56948" y="26471"/>
                  </a:lnTo>
                  <a:lnTo>
                    <a:pt x="95121" y="6995"/>
                  </a:lnTo>
                  <a:lnTo>
                    <a:pt x="139064" y="0"/>
                  </a:lnTo>
                  <a:lnTo>
                    <a:pt x="9747219" y="0"/>
                  </a:lnTo>
                  <a:lnTo>
                    <a:pt x="9791198" y="6995"/>
                  </a:lnTo>
                  <a:lnTo>
                    <a:pt x="9829376" y="26471"/>
                  </a:lnTo>
                  <a:lnTo>
                    <a:pt x="9859470" y="56167"/>
                  </a:lnTo>
                  <a:lnTo>
                    <a:pt x="9879199" y="93817"/>
                  </a:lnTo>
                  <a:lnTo>
                    <a:pt x="9886283" y="137160"/>
                  </a:lnTo>
                  <a:lnTo>
                    <a:pt x="9886283" y="1543431"/>
                  </a:lnTo>
                  <a:lnTo>
                    <a:pt x="9879190" y="1586773"/>
                  </a:lnTo>
                  <a:lnTo>
                    <a:pt x="9859443" y="1624423"/>
                  </a:lnTo>
                  <a:lnTo>
                    <a:pt x="9829335" y="1654118"/>
                  </a:lnTo>
                  <a:lnTo>
                    <a:pt x="9791162" y="1673595"/>
                  </a:lnTo>
                  <a:lnTo>
                    <a:pt x="9747219" y="168059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7535" y="2301329"/>
              <a:ext cx="9914890" cy="1709420"/>
            </a:xfrm>
            <a:custGeom>
              <a:avLst/>
              <a:gdLst/>
              <a:ahLst/>
              <a:cxnLst/>
              <a:rect l="l" t="t" r="r" b="b"/>
              <a:pathLst>
                <a:path w="9914890" h="1709420">
                  <a:moveTo>
                    <a:pt x="153352" y="1709143"/>
                  </a:moveTo>
                  <a:lnTo>
                    <a:pt x="104960" y="1701462"/>
                  </a:lnTo>
                  <a:lnTo>
                    <a:pt x="62874" y="1679996"/>
                  </a:lnTo>
                  <a:lnTo>
                    <a:pt x="29647" y="1647238"/>
                  </a:lnTo>
                  <a:lnTo>
                    <a:pt x="7837" y="1605656"/>
                  </a:lnTo>
                  <a:lnTo>
                    <a:pt x="0" y="1557718"/>
                  </a:lnTo>
                  <a:lnTo>
                    <a:pt x="0" y="151447"/>
                  </a:lnTo>
                  <a:lnTo>
                    <a:pt x="7803" y="103718"/>
                  </a:lnTo>
                  <a:lnTo>
                    <a:pt x="7837" y="103510"/>
                  </a:lnTo>
                  <a:lnTo>
                    <a:pt x="29647" y="61927"/>
                  </a:lnTo>
                  <a:lnTo>
                    <a:pt x="62874" y="29169"/>
                  </a:lnTo>
                  <a:lnTo>
                    <a:pt x="104960" y="7703"/>
                  </a:lnTo>
                  <a:lnTo>
                    <a:pt x="153352" y="0"/>
                  </a:lnTo>
                  <a:lnTo>
                    <a:pt x="9761507" y="0"/>
                  </a:lnTo>
                  <a:lnTo>
                    <a:pt x="9761507" y="14287"/>
                  </a:lnTo>
                  <a:lnTo>
                    <a:pt x="153352" y="14287"/>
                  </a:lnTo>
                  <a:lnTo>
                    <a:pt x="153352" y="28575"/>
                  </a:lnTo>
                  <a:lnTo>
                    <a:pt x="104722" y="38263"/>
                  </a:lnTo>
                  <a:lnTo>
                    <a:pt x="65067" y="64650"/>
                  </a:lnTo>
                  <a:lnTo>
                    <a:pt x="38360" y="103718"/>
                  </a:lnTo>
                  <a:lnTo>
                    <a:pt x="28575" y="151447"/>
                  </a:lnTo>
                  <a:lnTo>
                    <a:pt x="28575" y="1557718"/>
                  </a:lnTo>
                  <a:lnTo>
                    <a:pt x="38360" y="1605487"/>
                  </a:lnTo>
                  <a:lnTo>
                    <a:pt x="65067" y="1644550"/>
                  </a:lnTo>
                  <a:lnTo>
                    <a:pt x="104722" y="1670915"/>
                  </a:lnTo>
                  <a:lnTo>
                    <a:pt x="153352" y="1680590"/>
                  </a:lnTo>
                  <a:lnTo>
                    <a:pt x="9850819" y="1680590"/>
                  </a:lnTo>
                  <a:lnTo>
                    <a:pt x="9822806" y="1694878"/>
                  </a:lnTo>
                  <a:lnTo>
                    <a:pt x="153352" y="1694878"/>
                  </a:lnTo>
                  <a:lnTo>
                    <a:pt x="153352" y="1709143"/>
                  </a:lnTo>
                  <a:close/>
                </a:path>
                <a:path w="9914890" h="1709420">
                  <a:moveTo>
                    <a:pt x="9850819" y="1680590"/>
                  </a:moveTo>
                  <a:lnTo>
                    <a:pt x="9761507" y="1680590"/>
                  </a:lnTo>
                  <a:lnTo>
                    <a:pt x="9810109" y="1670915"/>
                  </a:lnTo>
                  <a:lnTo>
                    <a:pt x="9849773" y="1644550"/>
                  </a:lnTo>
                  <a:lnTo>
                    <a:pt x="9876369" y="1605656"/>
                  </a:lnTo>
                  <a:lnTo>
                    <a:pt x="9876484" y="1605487"/>
                  </a:lnTo>
                  <a:lnTo>
                    <a:pt x="9886283" y="1557718"/>
                  </a:lnTo>
                  <a:lnTo>
                    <a:pt x="9886283" y="151447"/>
                  </a:lnTo>
                  <a:lnTo>
                    <a:pt x="9876506" y="103718"/>
                  </a:lnTo>
                  <a:lnTo>
                    <a:pt x="9876383" y="103510"/>
                  </a:lnTo>
                  <a:lnTo>
                    <a:pt x="9849815" y="64650"/>
                  </a:lnTo>
                  <a:lnTo>
                    <a:pt x="9810156" y="38263"/>
                  </a:lnTo>
                  <a:lnTo>
                    <a:pt x="9761507" y="28575"/>
                  </a:lnTo>
                  <a:lnTo>
                    <a:pt x="153352" y="28575"/>
                  </a:lnTo>
                  <a:lnTo>
                    <a:pt x="153352" y="14287"/>
                  </a:lnTo>
                  <a:lnTo>
                    <a:pt x="9761507" y="14287"/>
                  </a:lnTo>
                  <a:lnTo>
                    <a:pt x="9761507" y="0"/>
                  </a:lnTo>
                  <a:lnTo>
                    <a:pt x="9809898" y="7703"/>
                  </a:lnTo>
                  <a:lnTo>
                    <a:pt x="9851985" y="29169"/>
                  </a:lnTo>
                  <a:lnTo>
                    <a:pt x="9885211" y="61927"/>
                  </a:lnTo>
                  <a:lnTo>
                    <a:pt x="9907020" y="103510"/>
                  </a:lnTo>
                  <a:lnTo>
                    <a:pt x="9914361" y="148407"/>
                  </a:lnTo>
                  <a:lnTo>
                    <a:pt x="9914361" y="1560758"/>
                  </a:lnTo>
                  <a:lnTo>
                    <a:pt x="9907048" y="1605487"/>
                  </a:lnTo>
                  <a:lnTo>
                    <a:pt x="9907020" y="1605656"/>
                  </a:lnTo>
                  <a:lnTo>
                    <a:pt x="9885211" y="1647238"/>
                  </a:lnTo>
                  <a:lnTo>
                    <a:pt x="9851985" y="1679996"/>
                  </a:lnTo>
                  <a:lnTo>
                    <a:pt x="9850819" y="1680590"/>
                  </a:lnTo>
                  <a:close/>
                </a:path>
                <a:path w="9914890" h="1709420">
                  <a:moveTo>
                    <a:pt x="9761507" y="1709143"/>
                  </a:moveTo>
                  <a:lnTo>
                    <a:pt x="153356" y="1709143"/>
                  </a:lnTo>
                  <a:lnTo>
                    <a:pt x="153352" y="1694878"/>
                  </a:lnTo>
                  <a:lnTo>
                    <a:pt x="9761507" y="1694878"/>
                  </a:lnTo>
                  <a:lnTo>
                    <a:pt x="9761507" y="1709143"/>
                  </a:lnTo>
                  <a:close/>
                </a:path>
                <a:path w="9914890" h="1709420">
                  <a:moveTo>
                    <a:pt x="9761650" y="1709143"/>
                  </a:moveTo>
                  <a:lnTo>
                    <a:pt x="9761507" y="1709143"/>
                  </a:lnTo>
                  <a:lnTo>
                    <a:pt x="9761507" y="1694878"/>
                  </a:lnTo>
                  <a:lnTo>
                    <a:pt x="9822806" y="1694878"/>
                  </a:lnTo>
                  <a:lnTo>
                    <a:pt x="9809898" y="1701462"/>
                  </a:lnTo>
                  <a:lnTo>
                    <a:pt x="9761650" y="170914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3247" y="2315616"/>
              <a:ext cx="114300" cy="1680845"/>
            </a:xfrm>
            <a:custGeom>
              <a:avLst/>
              <a:gdLst/>
              <a:ahLst/>
              <a:cxnLst/>
              <a:rect l="l" t="t" r="r" b="b"/>
              <a:pathLst>
                <a:path w="114300" h="1680845">
                  <a:moveTo>
                    <a:pt x="57149" y="1680590"/>
                  </a:moveTo>
                  <a:lnTo>
                    <a:pt x="34919" y="1676094"/>
                  </a:lnTo>
                  <a:lnTo>
                    <a:pt x="16752" y="1663838"/>
                  </a:lnTo>
                  <a:lnTo>
                    <a:pt x="4496" y="1645671"/>
                  </a:lnTo>
                  <a:lnTo>
                    <a:pt x="0" y="1623440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23440"/>
                  </a:lnTo>
                  <a:lnTo>
                    <a:pt x="109803" y="1645671"/>
                  </a:lnTo>
                  <a:lnTo>
                    <a:pt x="97547" y="1663838"/>
                  </a:lnTo>
                  <a:lnTo>
                    <a:pt x="79380" y="1676094"/>
                  </a:lnTo>
                  <a:lnTo>
                    <a:pt x="57149" y="1680590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43247" y="4202310"/>
            <a:ext cx="9928860" cy="1709420"/>
            <a:chOff x="743247" y="4202310"/>
            <a:chExt cx="9928860" cy="1709420"/>
          </a:xfrm>
        </p:grpSpPr>
        <p:sp>
          <p:nvSpPr>
            <p:cNvPr id="11" name="object 11" descr=""/>
            <p:cNvSpPr/>
            <p:nvPr/>
          </p:nvSpPr>
          <p:spPr>
            <a:xfrm>
              <a:off x="771822" y="4216598"/>
              <a:ext cx="9886315" cy="1680845"/>
            </a:xfrm>
            <a:custGeom>
              <a:avLst/>
              <a:gdLst/>
              <a:ahLst/>
              <a:cxnLst/>
              <a:rect l="l" t="t" r="r" b="b"/>
              <a:pathLst>
                <a:path w="9886315" h="1680845">
                  <a:moveTo>
                    <a:pt x="9747219" y="1680591"/>
                  </a:moveTo>
                  <a:lnTo>
                    <a:pt x="139064" y="1680591"/>
                  </a:lnTo>
                  <a:lnTo>
                    <a:pt x="95085" y="1673595"/>
                  </a:lnTo>
                  <a:lnTo>
                    <a:pt x="56907" y="1654119"/>
                  </a:lnTo>
                  <a:lnTo>
                    <a:pt x="26813" y="1624424"/>
                  </a:lnTo>
                  <a:lnTo>
                    <a:pt x="7083" y="1586773"/>
                  </a:lnTo>
                  <a:lnTo>
                    <a:pt x="0" y="1543431"/>
                  </a:lnTo>
                  <a:lnTo>
                    <a:pt x="0" y="137160"/>
                  </a:lnTo>
                  <a:lnTo>
                    <a:pt x="7092" y="93817"/>
                  </a:lnTo>
                  <a:lnTo>
                    <a:pt x="26840" y="56167"/>
                  </a:lnTo>
                  <a:lnTo>
                    <a:pt x="56948" y="26471"/>
                  </a:lnTo>
                  <a:lnTo>
                    <a:pt x="95121" y="6995"/>
                  </a:lnTo>
                  <a:lnTo>
                    <a:pt x="139064" y="0"/>
                  </a:lnTo>
                  <a:lnTo>
                    <a:pt x="9747219" y="0"/>
                  </a:lnTo>
                  <a:lnTo>
                    <a:pt x="9791198" y="6995"/>
                  </a:lnTo>
                  <a:lnTo>
                    <a:pt x="9829376" y="26471"/>
                  </a:lnTo>
                  <a:lnTo>
                    <a:pt x="9859470" y="56167"/>
                  </a:lnTo>
                  <a:lnTo>
                    <a:pt x="9879199" y="93817"/>
                  </a:lnTo>
                  <a:lnTo>
                    <a:pt x="9886283" y="137160"/>
                  </a:lnTo>
                  <a:lnTo>
                    <a:pt x="9886283" y="1543431"/>
                  </a:lnTo>
                  <a:lnTo>
                    <a:pt x="9879190" y="1586773"/>
                  </a:lnTo>
                  <a:lnTo>
                    <a:pt x="9859443" y="1624424"/>
                  </a:lnTo>
                  <a:lnTo>
                    <a:pt x="9829335" y="1654119"/>
                  </a:lnTo>
                  <a:lnTo>
                    <a:pt x="9791162" y="1673595"/>
                  </a:lnTo>
                  <a:lnTo>
                    <a:pt x="9747219" y="1680591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7535" y="4202310"/>
              <a:ext cx="9914890" cy="1709420"/>
            </a:xfrm>
            <a:custGeom>
              <a:avLst/>
              <a:gdLst/>
              <a:ahLst/>
              <a:cxnLst/>
              <a:rect l="l" t="t" r="r" b="b"/>
              <a:pathLst>
                <a:path w="9914890" h="1709420">
                  <a:moveTo>
                    <a:pt x="153352" y="1709143"/>
                  </a:moveTo>
                  <a:lnTo>
                    <a:pt x="104960" y="1701462"/>
                  </a:lnTo>
                  <a:lnTo>
                    <a:pt x="62874" y="1679996"/>
                  </a:lnTo>
                  <a:lnTo>
                    <a:pt x="29647" y="1647238"/>
                  </a:lnTo>
                  <a:lnTo>
                    <a:pt x="7837" y="1605656"/>
                  </a:lnTo>
                  <a:lnTo>
                    <a:pt x="0" y="1557718"/>
                  </a:lnTo>
                  <a:lnTo>
                    <a:pt x="0" y="151447"/>
                  </a:lnTo>
                  <a:lnTo>
                    <a:pt x="7803" y="103718"/>
                  </a:lnTo>
                  <a:lnTo>
                    <a:pt x="29647" y="61927"/>
                  </a:lnTo>
                  <a:lnTo>
                    <a:pt x="62874" y="29169"/>
                  </a:lnTo>
                  <a:lnTo>
                    <a:pt x="104960" y="7703"/>
                  </a:lnTo>
                  <a:lnTo>
                    <a:pt x="153352" y="0"/>
                  </a:lnTo>
                  <a:lnTo>
                    <a:pt x="9761507" y="0"/>
                  </a:lnTo>
                  <a:lnTo>
                    <a:pt x="9761507" y="14287"/>
                  </a:lnTo>
                  <a:lnTo>
                    <a:pt x="153352" y="14287"/>
                  </a:lnTo>
                  <a:lnTo>
                    <a:pt x="153352" y="28575"/>
                  </a:lnTo>
                  <a:lnTo>
                    <a:pt x="104722" y="38263"/>
                  </a:lnTo>
                  <a:lnTo>
                    <a:pt x="65067" y="64651"/>
                  </a:lnTo>
                  <a:lnTo>
                    <a:pt x="38360" y="103718"/>
                  </a:lnTo>
                  <a:lnTo>
                    <a:pt x="28575" y="151447"/>
                  </a:lnTo>
                  <a:lnTo>
                    <a:pt x="28575" y="1557718"/>
                  </a:lnTo>
                  <a:lnTo>
                    <a:pt x="38360" y="1605488"/>
                  </a:lnTo>
                  <a:lnTo>
                    <a:pt x="65067" y="1644550"/>
                  </a:lnTo>
                  <a:lnTo>
                    <a:pt x="104722" y="1670915"/>
                  </a:lnTo>
                  <a:lnTo>
                    <a:pt x="153352" y="1680591"/>
                  </a:lnTo>
                  <a:lnTo>
                    <a:pt x="9850819" y="1680591"/>
                  </a:lnTo>
                  <a:lnTo>
                    <a:pt x="9822806" y="1694878"/>
                  </a:lnTo>
                  <a:lnTo>
                    <a:pt x="153352" y="1694878"/>
                  </a:lnTo>
                  <a:lnTo>
                    <a:pt x="153352" y="1709143"/>
                  </a:lnTo>
                  <a:close/>
                </a:path>
                <a:path w="9914890" h="1709420">
                  <a:moveTo>
                    <a:pt x="9850819" y="1680591"/>
                  </a:moveTo>
                  <a:lnTo>
                    <a:pt x="9761507" y="1680591"/>
                  </a:lnTo>
                  <a:lnTo>
                    <a:pt x="9810109" y="1670915"/>
                  </a:lnTo>
                  <a:lnTo>
                    <a:pt x="9849773" y="1644550"/>
                  </a:lnTo>
                  <a:lnTo>
                    <a:pt x="9876369" y="1605656"/>
                  </a:lnTo>
                  <a:lnTo>
                    <a:pt x="9876484" y="1605488"/>
                  </a:lnTo>
                  <a:lnTo>
                    <a:pt x="9886283" y="1557718"/>
                  </a:lnTo>
                  <a:lnTo>
                    <a:pt x="9886283" y="151447"/>
                  </a:lnTo>
                  <a:lnTo>
                    <a:pt x="9876506" y="103718"/>
                  </a:lnTo>
                  <a:lnTo>
                    <a:pt x="9876383" y="103510"/>
                  </a:lnTo>
                  <a:lnTo>
                    <a:pt x="9849815" y="64651"/>
                  </a:lnTo>
                  <a:lnTo>
                    <a:pt x="9810156" y="38263"/>
                  </a:lnTo>
                  <a:lnTo>
                    <a:pt x="9761507" y="28575"/>
                  </a:lnTo>
                  <a:lnTo>
                    <a:pt x="153352" y="28575"/>
                  </a:lnTo>
                  <a:lnTo>
                    <a:pt x="153352" y="14287"/>
                  </a:lnTo>
                  <a:lnTo>
                    <a:pt x="9761507" y="14287"/>
                  </a:lnTo>
                  <a:lnTo>
                    <a:pt x="9761507" y="0"/>
                  </a:lnTo>
                  <a:lnTo>
                    <a:pt x="9809898" y="7703"/>
                  </a:lnTo>
                  <a:lnTo>
                    <a:pt x="9851985" y="29169"/>
                  </a:lnTo>
                  <a:lnTo>
                    <a:pt x="9885211" y="61927"/>
                  </a:lnTo>
                  <a:lnTo>
                    <a:pt x="9907020" y="103510"/>
                  </a:lnTo>
                  <a:lnTo>
                    <a:pt x="9914361" y="148407"/>
                  </a:lnTo>
                  <a:lnTo>
                    <a:pt x="9914361" y="1560758"/>
                  </a:lnTo>
                  <a:lnTo>
                    <a:pt x="9907048" y="1605488"/>
                  </a:lnTo>
                  <a:lnTo>
                    <a:pt x="9907020" y="1605656"/>
                  </a:lnTo>
                  <a:lnTo>
                    <a:pt x="9885211" y="1647238"/>
                  </a:lnTo>
                  <a:lnTo>
                    <a:pt x="9851985" y="1679996"/>
                  </a:lnTo>
                  <a:lnTo>
                    <a:pt x="9850819" y="1680591"/>
                  </a:lnTo>
                  <a:close/>
                </a:path>
                <a:path w="9914890" h="1709420">
                  <a:moveTo>
                    <a:pt x="9761507" y="1709143"/>
                  </a:moveTo>
                  <a:lnTo>
                    <a:pt x="153356" y="1709143"/>
                  </a:lnTo>
                  <a:lnTo>
                    <a:pt x="153352" y="1694878"/>
                  </a:lnTo>
                  <a:lnTo>
                    <a:pt x="9761507" y="1694878"/>
                  </a:lnTo>
                  <a:lnTo>
                    <a:pt x="9761507" y="1709143"/>
                  </a:lnTo>
                  <a:close/>
                </a:path>
                <a:path w="9914890" h="1709420">
                  <a:moveTo>
                    <a:pt x="9761652" y="1709143"/>
                  </a:moveTo>
                  <a:lnTo>
                    <a:pt x="9761507" y="1709143"/>
                  </a:lnTo>
                  <a:lnTo>
                    <a:pt x="9761507" y="1694878"/>
                  </a:lnTo>
                  <a:lnTo>
                    <a:pt x="9822806" y="1694878"/>
                  </a:lnTo>
                  <a:lnTo>
                    <a:pt x="9809898" y="1701462"/>
                  </a:lnTo>
                  <a:lnTo>
                    <a:pt x="9761652" y="170914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3247" y="4216598"/>
              <a:ext cx="114300" cy="1680845"/>
            </a:xfrm>
            <a:custGeom>
              <a:avLst/>
              <a:gdLst/>
              <a:ahLst/>
              <a:cxnLst/>
              <a:rect l="l" t="t" r="r" b="b"/>
              <a:pathLst>
                <a:path w="114300" h="1680845">
                  <a:moveTo>
                    <a:pt x="57149" y="1680591"/>
                  </a:moveTo>
                  <a:lnTo>
                    <a:pt x="34919" y="1676094"/>
                  </a:lnTo>
                  <a:lnTo>
                    <a:pt x="16752" y="1663838"/>
                  </a:lnTo>
                  <a:lnTo>
                    <a:pt x="4496" y="1645671"/>
                  </a:lnTo>
                  <a:lnTo>
                    <a:pt x="0" y="1623441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23441"/>
                  </a:lnTo>
                  <a:lnTo>
                    <a:pt x="109803" y="1645671"/>
                  </a:lnTo>
                  <a:lnTo>
                    <a:pt x="97547" y="1663838"/>
                  </a:lnTo>
                  <a:lnTo>
                    <a:pt x="79380" y="1676094"/>
                  </a:lnTo>
                  <a:lnTo>
                    <a:pt x="57149" y="1680591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743247" y="6103292"/>
            <a:ext cx="9928860" cy="1709420"/>
            <a:chOff x="743247" y="6103292"/>
            <a:chExt cx="9928860" cy="1709420"/>
          </a:xfrm>
        </p:grpSpPr>
        <p:sp>
          <p:nvSpPr>
            <p:cNvPr id="15" name="object 15" descr=""/>
            <p:cNvSpPr/>
            <p:nvPr/>
          </p:nvSpPr>
          <p:spPr>
            <a:xfrm>
              <a:off x="771822" y="6117580"/>
              <a:ext cx="9886315" cy="1680845"/>
            </a:xfrm>
            <a:custGeom>
              <a:avLst/>
              <a:gdLst/>
              <a:ahLst/>
              <a:cxnLst/>
              <a:rect l="l" t="t" r="r" b="b"/>
              <a:pathLst>
                <a:path w="9886315" h="1680845">
                  <a:moveTo>
                    <a:pt x="9747219" y="1680591"/>
                  </a:moveTo>
                  <a:lnTo>
                    <a:pt x="139064" y="1680591"/>
                  </a:lnTo>
                  <a:lnTo>
                    <a:pt x="95085" y="1673595"/>
                  </a:lnTo>
                  <a:lnTo>
                    <a:pt x="56907" y="1654119"/>
                  </a:lnTo>
                  <a:lnTo>
                    <a:pt x="26813" y="1624423"/>
                  </a:lnTo>
                  <a:lnTo>
                    <a:pt x="7083" y="1586773"/>
                  </a:lnTo>
                  <a:lnTo>
                    <a:pt x="0" y="1543431"/>
                  </a:lnTo>
                  <a:lnTo>
                    <a:pt x="0" y="137160"/>
                  </a:lnTo>
                  <a:lnTo>
                    <a:pt x="7092" y="93817"/>
                  </a:lnTo>
                  <a:lnTo>
                    <a:pt x="26840" y="56166"/>
                  </a:lnTo>
                  <a:lnTo>
                    <a:pt x="56948" y="26471"/>
                  </a:lnTo>
                  <a:lnTo>
                    <a:pt x="95121" y="6995"/>
                  </a:lnTo>
                  <a:lnTo>
                    <a:pt x="139064" y="0"/>
                  </a:lnTo>
                  <a:lnTo>
                    <a:pt x="9747219" y="0"/>
                  </a:lnTo>
                  <a:lnTo>
                    <a:pt x="9791198" y="6995"/>
                  </a:lnTo>
                  <a:lnTo>
                    <a:pt x="9829376" y="26471"/>
                  </a:lnTo>
                  <a:lnTo>
                    <a:pt x="9859470" y="56166"/>
                  </a:lnTo>
                  <a:lnTo>
                    <a:pt x="9879199" y="93817"/>
                  </a:lnTo>
                  <a:lnTo>
                    <a:pt x="9886283" y="137160"/>
                  </a:lnTo>
                  <a:lnTo>
                    <a:pt x="9886283" y="1543431"/>
                  </a:lnTo>
                  <a:lnTo>
                    <a:pt x="9879190" y="1586773"/>
                  </a:lnTo>
                  <a:lnTo>
                    <a:pt x="9859443" y="1624423"/>
                  </a:lnTo>
                  <a:lnTo>
                    <a:pt x="9829335" y="1654119"/>
                  </a:lnTo>
                  <a:lnTo>
                    <a:pt x="9791162" y="1673595"/>
                  </a:lnTo>
                  <a:lnTo>
                    <a:pt x="9747219" y="1680591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7535" y="6103292"/>
              <a:ext cx="9914890" cy="1709420"/>
            </a:xfrm>
            <a:custGeom>
              <a:avLst/>
              <a:gdLst/>
              <a:ahLst/>
              <a:cxnLst/>
              <a:rect l="l" t="t" r="r" b="b"/>
              <a:pathLst>
                <a:path w="9914890" h="1709420">
                  <a:moveTo>
                    <a:pt x="153352" y="1709143"/>
                  </a:moveTo>
                  <a:lnTo>
                    <a:pt x="104960" y="1701462"/>
                  </a:lnTo>
                  <a:lnTo>
                    <a:pt x="62874" y="1679996"/>
                  </a:lnTo>
                  <a:lnTo>
                    <a:pt x="29647" y="1647238"/>
                  </a:lnTo>
                  <a:lnTo>
                    <a:pt x="7837" y="1605656"/>
                  </a:lnTo>
                  <a:lnTo>
                    <a:pt x="0" y="1557718"/>
                  </a:lnTo>
                  <a:lnTo>
                    <a:pt x="0" y="151447"/>
                  </a:lnTo>
                  <a:lnTo>
                    <a:pt x="7803" y="103718"/>
                  </a:lnTo>
                  <a:lnTo>
                    <a:pt x="7837" y="103510"/>
                  </a:lnTo>
                  <a:lnTo>
                    <a:pt x="29647" y="61927"/>
                  </a:lnTo>
                  <a:lnTo>
                    <a:pt x="62874" y="29169"/>
                  </a:lnTo>
                  <a:lnTo>
                    <a:pt x="104960" y="7704"/>
                  </a:lnTo>
                  <a:lnTo>
                    <a:pt x="153352" y="0"/>
                  </a:lnTo>
                  <a:lnTo>
                    <a:pt x="9761507" y="0"/>
                  </a:lnTo>
                  <a:lnTo>
                    <a:pt x="9761507" y="14287"/>
                  </a:lnTo>
                  <a:lnTo>
                    <a:pt x="153352" y="14287"/>
                  </a:lnTo>
                  <a:lnTo>
                    <a:pt x="153352" y="28575"/>
                  </a:lnTo>
                  <a:lnTo>
                    <a:pt x="104722" y="38263"/>
                  </a:lnTo>
                  <a:lnTo>
                    <a:pt x="65067" y="64651"/>
                  </a:lnTo>
                  <a:lnTo>
                    <a:pt x="38360" y="103718"/>
                  </a:lnTo>
                  <a:lnTo>
                    <a:pt x="28575" y="151447"/>
                  </a:lnTo>
                  <a:lnTo>
                    <a:pt x="28575" y="1557718"/>
                  </a:lnTo>
                  <a:lnTo>
                    <a:pt x="38360" y="1605488"/>
                  </a:lnTo>
                  <a:lnTo>
                    <a:pt x="65067" y="1644550"/>
                  </a:lnTo>
                  <a:lnTo>
                    <a:pt x="104722" y="1670915"/>
                  </a:lnTo>
                  <a:lnTo>
                    <a:pt x="153352" y="1680591"/>
                  </a:lnTo>
                  <a:lnTo>
                    <a:pt x="9850819" y="1680591"/>
                  </a:lnTo>
                  <a:lnTo>
                    <a:pt x="9822806" y="1694878"/>
                  </a:lnTo>
                  <a:lnTo>
                    <a:pt x="153352" y="1694878"/>
                  </a:lnTo>
                  <a:lnTo>
                    <a:pt x="153352" y="1709143"/>
                  </a:lnTo>
                  <a:close/>
                </a:path>
                <a:path w="9914890" h="1709420">
                  <a:moveTo>
                    <a:pt x="9850819" y="1680591"/>
                  </a:moveTo>
                  <a:lnTo>
                    <a:pt x="9761507" y="1680591"/>
                  </a:lnTo>
                  <a:lnTo>
                    <a:pt x="9810109" y="1670915"/>
                  </a:lnTo>
                  <a:lnTo>
                    <a:pt x="9849773" y="1644550"/>
                  </a:lnTo>
                  <a:lnTo>
                    <a:pt x="9876369" y="1605656"/>
                  </a:lnTo>
                  <a:lnTo>
                    <a:pt x="9876484" y="1605488"/>
                  </a:lnTo>
                  <a:lnTo>
                    <a:pt x="9886283" y="1557718"/>
                  </a:lnTo>
                  <a:lnTo>
                    <a:pt x="9886283" y="151447"/>
                  </a:lnTo>
                  <a:lnTo>
                    <a:pt x="9876506" y="103718"/>
                  </a:lnTo>
                  <a:lnTo>
                    <a:pt x="9876383" y="103510"/>
                  </a:lnTo>
                  <a:lnTo>
                    <a:pt x="9849815" y="64651"/>
                  </a:lnTo>
                  <a:lnTo>
                    <a:pt x="9810156" y="38263"/>
                  </a:lnTo>
                  <a:lnTo>
                    <a:pt x="9761507" y="28575"/>
                  </a:lnTo>
                  <a:lnTo>
                    <a:pt x="153352" y="28575"/>
                  </a:lnTo>
                  <a:lnTo>
                    <a:pt x="153352" y="14287"/>
                  </a:lnTo>
                  <a:lnTo>
                    <a:pt x="9761507" y="14287"/>
                  </a:lnTo>
                  <a:lnTo>
                    <a:pt x="9761507" y="0"/>
                  </a:lnTo>
                  <a:lnTo>
                    <a:pt x="9809898" y="7704"/>
                  </a:lnTo>
                  <a:lnTo>
                    <a:pt x="9851985" y="29169"/>
                  </a:lnTo>
                  <a:lnTo>
                    <a:pt x="9885211" y="61927"/>
                  </a:lnTo>
                  <a:lnTo>
                    <a:pt x="9907020" y="103510"/>
                  </a:lnTo>
                  <a:lnTo>
                    <a:pt x="9914361" y="148407"/>
                  </a:lnTo>
                  <a:lnTo>
                    <a:pt x="9914361" y="1560758"/>
                  </a:lnTo>
                  <a:lnTo>
                    <a:pt x="9907048" y="1605488"/>
                  </a:lnTo>
                  <a:lnTo>
                    <a:pt x="9907020" y="1605656"/>
                  </a:lnTo>
                  <a:lnTo>
                    <a:pt x="9885211" y="1647238"/>
                  </a:lnTo>
                  <a:lnTo>
                    <a:pt x="9851985" y="1679996"/>
                  </a:lnTo>
                  <a:lnTo>
                    <a:pt x="9850819" y="1680591"/>
                  </a:lnTo>
                  <a:close/>
                </a:path>
                <a:path w="9914890" h="1709420">
                  <a:moveTo>
                    <a:pt x="9761507" y="1709143"/>
                  </a:moveTo>
                  <a:lnTo>
                    <a:pt x="153356" y="1709143"/>
                  </a:lnTo>
                  <a:lnTo>
                    <a:pt x="153352" y="1694878"/>
                  </a:lnTo>
                  <a:lnTo>
                    <a:pt x="9761507" y="1694878"/>
                  </a:lnTo>
                  <a:lnTo>
                    <a:pt x="9761507" y="1709143"/>
                  </a:lnTo>
                  <a:close/>
                </a:path>
                <a:path w="9914890" h="1709420">
                  <a:moveTo>
                    <a:pt x="9761652" y="1709143"/>
                  </a:moveTo>
                  <a:lnTo>
                    <a:pt x="9761507" y="1709143"/>
                  </a:lnTo>
                  <a:lnTo>
                    <a:pt x="9761507" y="1694878"/>
                  </a:lnTo>
                  <a:lnTo>
                    <a:pt x="9822806" y="1694878"/>
                  </a:lnTo>
                  <a:lnTo>
                    <a:pt x="9809898" y="1701462"/>
                  </a:lnTo>
                  <a:lnTo>
                    <a:pt x="9761652" y="170914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3247" y="6117579"/>
              <a:ext cx="114300" cy="1680845"/>
            </a:xfrm>
            <a:custGeom>
              <a:avLst/>
              <a:gdLst/>
              <a:ahLst/>
              <a:cxnLst/>
              <a:rect l="l" t="t" r="r" b="b"/>
              <a:pathLst>
                <a:path w="114300" h="1680845">
                  <a:moveTo>
                    <a:pt x="57149" y="1680590"/>
                  </a:moveTo>
                  <a:lnTo>
                    <a:pt x="34919" y="1676094"/>
                  </a:lnTo>
                  <a:lnTo>
                    <a:pt x="16752" y="1663838"/>
                  </a:lnTo>
                  <a:lnTo>
                    <a:pt x="4496" y="1645671"/>
                  </a:lnTo>
                  <a:lnTo>
                    <a:pt x="0" y="1623440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23440"/>
                  </a:lnTo>
                  <a:lnTo>
                    <a:pt x="109803" y="1645671"/>
                  </a:lnTo>
                  <a:lnTo>
                    <a:pt x="97547" y="1663838"/>
                  </a:lnTo>
                  <a:lnTo>
                    <a:pt x="79380" y="1676094"/>
                  </a:lnTo>
                  <a:lnTo>
                    <a:pt x="57149" y="1680590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743247" y="8004273"/>
            <a:ext cx="9928860" cy="1709420"/>
            <a:chOff x="743247" y="8004273"/>
            <a:chExt cx="9928860" cy="1709420"/>
          </a:xfrm>
        </p:grpSpPr>
        <p:sp>
          <p:nvSpPr>
            <p:cNvPr id="19" name="object 19" descr=""/>
            <p:cNvSpPr/>
            <p:nvPr/>
          </p:nvSpPr>
          <p:spPr>
            <a:xfrm>
              <a:off x="771822" y="8018561"/>
              <a:ext cx="9886315" cy="1680845"/>
            </a:xfrm>
            <a:custGeom>
              <a:avLst/>
              <a:gdLst/>
              <a:ahLst/>
              <a:cxnLst/>
              <a:rect l="l" t="t" r="r" b="b"/>
              <a:pathLst>
                <a:path w="9886315" h="1680845">
                  <a:moveTo>
                    <a:pt x="9747219" y="1680591"/>
                  </a:moveTo>
                  <a:lnTo>
                    <a:pt x="139064" y="1680591"/>
                  </a:lnTo>
                  <a:lnTo>
                    <a:pt x="95085" y="1673595"/>
                  </a:lnTo>
                  <a:lnTo>
                    <a:pt x="56907" y="1654119"/>
                  </a:lnTo>
                  <a:lnTo>
                    <a:pt x="26813" y="1624423"/>
                  </a:lnTo>
                  <a:lnTo>
                    <a:pt x="7083" y="1586773"/>
                  </a:lnTo>
                  <a:lnTo>
                    <a:pt x="0" y="1543431"/>
                  </a:lnTo>
                  <a:lnTo>
                    <a:pt x="0" y="137160"/>
                  </a:lnTo>
                  <a:lnTo>
                    <a:pt x="7092" y="93817"/>
                  </a:lnTo>
                  <a:lnTo>
                    <a:pt x="26840" y="56166"/>
                  </a:lnTo>
                  <a:lnTo>
                    <a:pt x="56948" y="26471"/>
                  </a:lnTo>
                  <a:lnTo>
                    <a:pt x="95121" y="6995"/>
                  </a:lnTo>
                  <a:lnTo>
                    <a:pt x="139064" y="0"/>
                  </a:lnTo>
                  <a:lnTo>
                    <a:pt x="9747219" y="0"/>
                  </a:lnTo>
                  <a:lnTo>
                    <a:pt x="9791198" y="6995"/>
                  </a:lnTo>
                  <a:lnTo>
                    <a:pt x="9829376" y="26471"/>
                  </a:lnTo>
                  <a:lnTo>
                    <a:pt x="9859470" y="56166"/>
                  </a:lnTo>
                  <a:lnTo>
                    <a:pt x="9879199" y="93817"/>
                  </a:lnTo>
                  <a:lnTo>
                    <a:pt x="9886283" y="137160"/>
                  </a:lnTo>
                  <a:lnTo>
                    <a:pt x="9886283" y="1543431"/>
                  </a:lnTo>
                  <a:lnTo>
                    <a:pt x="9879190" y="1586773"/>
                  </a:lnTo>
                  <a:lnTo>
                    <a:pt x="9859443" y="1624423"/>
                  </a:lnTo>
                  <a:lnTo>
                    <a:pt x="9829335" y="1654119"/>
                  </a:lnTo>
                  <a:lnTo>
                    <a:pt x="9791162" y="1673595"/>
                  </a:lnTo>
                  <a:lnTo>
                    <a:pt x="9747219" y="1680591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57535" y="8004273"/>
              <a:ext cx="9914890" cy="1709420"/>
            </a:xfrm>
            <a:custGeom>
              <a:avLst/>
              <a:gdLst/>
              <a:ahLst/>
              <a:cxnLst/>
              <a:rect l="l" t="t" r="r" b="b"/>
              <a:pathLst>
                <a:path w="9914890" h="1709420">
                  <a:moveTo>
                    <a:pt x="153352" y="1709143"/>
                  </a:moveTo>
                  <a:lnTo>
                    <a:pt x="104960" y="1701462"/>
                  </a:lnTo>
                  <a:lnTo>
                    <a:pt x="62874" y="1679996"/>
                  </a:lnTo>
                  <a:lnTo>
                    <a:pt x="29647" y="1647238"/>
                  </a:lnTo>
                  <a:lnTo>
                    <a:pt x="7837" y="1605656"/>
                  </a:lnTo>
                  <a:lnTo>
                    <a:pt x="0" y="1557718"/>
                  </a:lnTo>
                  <a:lnTo>
                    <a:pt x="0" y="151447"/>
                  </a:lnTo>
                  <a:lnTo>
                    <a:pt x="7803" y="103718"/>
                  </a:lnTo>
                  <a:lnTo>
                    <a:pt x="7837" y="103510"/>
                  </a:lnTo>
                  <a:lnTo>
                    <a:pt x="29647" y="61927"/>
                  </a:lnTo>
                  <a:lnTo>
                    <a:pt x="62874" y="29169"/>
                  </a:lnTo>
                  <a:lnTo>
                    <a:pt x="104960" y="7704"/>
                  </a:lnTo>
                  <a:lnTo>
                    <a:pt x="153352" y="0"/>
                  </a:lnTo>
                  <a:lnTo>
                    <a:pt x="9761507" y="0"/>
                  </a:lnTo>
                  <a:lnTo>
                    <a:pt x="9761507" y="14287"/>
                  </a:lnTo>
                  <a:lnTo>
                    <a:pt x="153352" y="14287"/>
                  </a:lnTo>
                  <a:lnTo>
                    <a:pt x="153352" y="28575"/>
                  </a:lnTo>
                  <a:lnTo>
                    <a:pt x="104722" y="38263"/>
                  </a:lnTo>
                  <a:lnTo>
                    <a:pt x="65067" y="64651"/>
                  </a:lnTo>
                  <a:lnTo>
                    <a:pt x="38360" y="103718"/>
                  </a:lnTo>
                  <a:lnTo>
                    <a:pt x="28575" y="151447"/>
                  </a:lnTo>
                  <a:lnTo>
                    <a:pt x="28575" y="1557718"/>
                  </a:lnTo>
                  <a:lnTo>
                    <a:pt x="38360" y="1605488"/>
                  </a:lnTo>
                  <a:lnTo>
                    <a:pt x="65067" y="1644551"/>
                  </a:lnTo>
                  <a:lnTo>
                    <a:pt x="104722" y="1670915"/>
                  </a:lnTo>
                  <a:lnTo>
                    <a:pt x="153352" y="1680591"/>
                  </a:lnTo>
                  <a:lnTo>
                    <a:pt x="9850819" y="1680591"/>
                  </a:lnTo>
                  <a:lnTo>
                    <a:pt x="9822806" y="1694878"/>
                  </a:lnTo>
                  <a:lnTo>
                    <a:pt x="153352" y="1694878"/>
                  </a:lnTo>
                  <a:lnTo>
                    <a:pt x="153352" y="1709143"/>
                  </a:lnTo>
                  <a:close/>
                </a:path>
                <a:path w="9914890" h="1709420">
                  <a:moveTo>
                    <a:pt x="9850819" y="1680591"/>
                  </a:moveTo>
                  <a:lnTo>
                    <a:pt x="9761507" y="1680591"/>
                  </a:lnTo>
                  <a:lnTo>
                    <a:pt x="9810109" y="1670915"/>
                  </a:lnTo>
                  <a:lnTo>
                    <a:pt x="9849773" y="1644551"/>
                  </a:lnTo>
                  <a:lnTo>
                    <a:pt x="9876369" y="1605656"/>
                  </a:lnTo>
                  <a:lnTo>
                    <a:pt x="9876484" y="1605488"/>
                  </a:lnTo>
                  <a:lnTo>
                    <a:pt x="9886283" y="1557718"/>
                  </a:lnTo>
                  <a:lnTo>
                    <a:pt x="9886283" y="151447"/>
                  </a:lnTo>
                  <a:lnTo>
                    <a:pt x="9876506" y="103718"/>
                  </a:lnTo>
                  <a:lnTo>
                    <a:pt x="9876383" y="103510"/>
                  </a:lnTo>
                  <a:lnTo>
                    <a:pt x="9849815" y="64651"/>
                  </a:lnTo>
                  <a:lnTo>
                    <a:pt x="9810156" y="38263"/>
                  </a:lnTo>
                  <a:lnTo>
                    <a:pt x="9761507" y="28575"/>
                  </a:lnTo>
                  <a:lnTo>
                    <a:pt x="153352" y="28575"/>
                  </a:lnTo>
                  <a:lnTo>
                    <a:pt x="153352" y="14287"/>
                  </a:lnTo>
                  <a:lnTo>
                    <a:pt x="9761507" y="14287"/>
                  </a:lnTo>
                  <a:lnTo>
                    <a:pt x="9761507" y="0"/>
                  </a:lnTo>
                  <a:lnTo>
                    <a:pt x="9809898" y="7704"/>
                  </a:lnTo>
                  <a:lnTo>
                    <a:pt x="9851985" y="29169"/>
                  </a:lnTo>
                  <a:lnTo>
                    <a:pt x="9885211" y="61927"/>
                  </a:lnTo>
                  <a:lnTo>
                    <a:pt x="9907020" y="103510"/>
                  </a:lnTo>
                  <a:lnTo>
                    <a:pt x="9914361" y="148407"/>
                  </a:lnTo>
                  <a:lnTo>
                    <a:pt x="9914361" y="1560759"/>
                  </a:lnTo>
                  <a:lnTo>
                    <a:pt x="9907048" y="1605488"/>
                  </a:lnTo>
                  <a:lnTo>
                    <a:pt x="9907020" y="1605656"/>
                  </a:lnTo>
                  <a:lnTo>
                    <a:pt x="9885211" y="1647238"/>
                  </a:lnTo>
                  <a:lnTo>
                    <a:pt x="9851985" y="1679996"/>
                  </a:lnTo>
                  <a:lnTo>
                    <a:pt x="9850819" y="1680591"/>
                  </a:lnTo>
                  <a:close/>
                </a:path>
                <a:path w="9914890" h="1709420">
                  <a:moveTo>
                    <a:pt x="9761507" y="1709143"/>
                  </a:moveTo>
                  <a:lnTo>
                    <a:pt x="153356" y="1709143"/>
                  </a:lnTo>
                  <a:lnTo>
                    <a:pt x="153352" y="1694878"/>
                  </a:lnTo>
                  <a:lnTo>
                    <a:pt x="9761507" y="1694878"/>
                  </a:lnTo>
                  <a:lnTo>
                    <a:pt x="9761507" y="1709143"/>
                  </a:lnTo>
                  <a:close/>
                </a:path>
                <a:path w="9914890" h="1709420">
                  <a:moveTo>
                    <a:pt x="9761653" y="1709143"/>
                  </a:moveTo>
                  <a:lnTo>
                    <a:pt x="9761507" y="1709143"/>
                  </a:lnTo>
                  <a:lnTo>
                    <a:pt x="9761507" y="1694878"/>
                  </a:lnTo>
                  <a:lnTo>
                    <a:pt x="9822806" y="1694878"/>
                  </a:lnTo>
                  <a:lnTo>
                    <a:pt x="9809898" y="1701462"/>
                  </a:lnTo>
                  <a:lnTo>
                    <a:pt x="9761653" y="170914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3247" y="8018561"/>
              <a:ext cx="114300" cy="1680845"/>
            </a:xfrm>
            <a:custGeom>
              <a:avLst/>
              <a:gdLst/>
              <a:ahLst/>
              <a:cxnLst/>
              <a:rect l="l" t="t" r="r" b="b"/>
              <a:pathLst>
                <a:path w="114300" h="1680845">
                  <a:moveTo>
                    <a:pt x="57149" y="1680590"/>
                  </a:moveTo>
                  <a:lnTo>
                    <a:pt x="34919" y="1676094"/>
                  </a:lnTo>
                  <a:lnTo>
                    <a:pt x="16752" y="1663838"/>
                  </a:lnTo>
                  <a:lnTo>
                    <a:pt x="4496" y="1645671"/>
                  </a:lnTo>
                  <a:lnTo>
                    <a:pt x="0" y="1623440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23440"/>
                  </a:lnTo>
                  <a:lnTo>
                    <a:pt x="109803" y="1645671"/>
                  </a:lnTo>
                  <a:lnTo>
                    <a:pt x="97547" y="1663838"/>
                  </a:lnTo>
                  <a:lnTo>
                    <a:pt x="79380" y="1676094"/>
                  </a:lnTo>
                  <a:lnTo>
                    <a:pt x="57149" y="1680590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50974" y="2332891"/>
            <a:ext cx="9368155" cy="712215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70"/>
              </a:spcBef>
            </a:pPr>
            <a:r>
              <a:rPr dirty="0" sz="2800" spc="170" b="1">
                <a:solidFill>
                  <a:srgbClr val="454140"/>
                </a:solidFill>
                <a:latin typeface="Cambria"/>
                <a:cs typeface="Cambria"/>
              </a:rPr>
              <a:t>Intelligent</a:t>
            </a:r>
            <a:r>
              <a:rPr dirty="0" sz="2800" spc="13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45" b="1">
                <a:solidFill>
                  <a:srgbClr val="454140"/>
                </a:solidFill>
                <a:latin typeface="Cambria"/>
                <a:cs typeface="Cambria"/>
              </a:rPr>
              <a:t>Monitoring</a:t>
            </a:r>
            <a:endParaRPr sz="2800">
              <a:latin typeface="Cambria"/>
              <a:cs typeface="Cambria"/>
            </a:endParaRPr>
          </a:p>
          <a:p>
            <a:pPr marL="55244">
              <a:lnSpc>
                <a:spcPct val="100000"/>
              </a:lnSpc>
              <a:spcBef>
                <a:spcPts val="315"/>
              </a:spcBef>
            </a:pPr>
            <a:r>
              <a:rPr dirty="0" sz="2400" spc="80">
                <a:solidFill>
                  <a:srgbClr val="454140"/>
                </a:solidFill>
                <a:latin typeface="Tahoma"/>
                <a:cs typeface="Tahoma"/>
              </a:rPr>
              <a:t>Analyses</a:t>
            </a:r>
            <a:r>
              <a:rPr dirty="0" sz="24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incoming</a:t>
            </a:r>
            <a:r>
              <a:rPr dirty="0" sz="24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454140"/>
                </a:solidFill>
                <a:latin typeface="Tahoma"/>
                <a:cs typeface="Tahoma"/>
              </a:rPr>
              <a:t>messages</a:t>
            </a:r>
            <a:r>
              <a:rPr dirty="0" sz="24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45">
                <a:solidFill>
                  <a:srgbClr val="454140"/>
                </a:solidFill>
                <a:latin typeface="Tahoma"/>
                <a:cs typeface="Tahoma"/>
              </a:rPr>
              <a:t>through</a:t>
            </a:r>
            <a:r>
              <a:rPr dirty="0" sz="24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manual</a:t>
            </a:r>
            <a:r>
              <a:rPr dirty="0" sz="24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5">
                <a:solidFill>
                  <a:srgbClr val="454140"/>
                </a:solidFill>
                <a:latin typeface="Tahoma"/>
                <a:cs typeface="Tahoma"/>
              </a:rPr>
              <a:t>input</a:t>
            </a:r>
            <a:r>
              <a:rPr dirty="0" sz="24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in</a:t>
            </a:r>
            <a:r>
              <a:rPr dirty="0" sz="24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454140"/>
                </a:solidFill>
                <a:latin typeface="Tahoma"/>
                <a:cs typeface="Tahoma"/>
              </a:rPr>
              <a:t>prototype</a:t>
            </a: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  <a:spcBef>
                <a:spcPts val="1019"/>
              </a:spcBef>
            </a:pP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phase,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454140"/>
                </a:solidFill>
                <a:latin typeface="Tahoma"/>
                <a:cs typeface="Tahoma"/>
              </a:rPr>
              <a:t>automated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5">
                <a:solidFill>
                  <a:srgbClr val="454140"/>
                </a:solidFill>
                <a:latin typeface="Tahoma"/>
                <a:cs typeface="Tahoma"/>
              </a:rPr>
              <a:t>scanning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planned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454140"/>
                </a:solidFill>
                <a:latin typeface="Tahoma"/>
                <a:cs typeface="Tahoma"/>
              </a:rPr>
              <a:t>future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releases.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5"/>
              </a:spcBef>
            </a:pP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2800" spc="325" b="1">
                <a:solidFill>
                  <a:srgbClr val="454140"/>
                </a:solidFill>
                <a:latin typeface="Cambria"/>
                <a:cs typeface="Cambria"/>
              </a:rPr>
              <a:t>AI-</a:t>
            </a:r>
            <a:r>
              <a:rPr dirty="0" sz="2800" spc="200" b="1">
                <a:solidFill>
                  <a:srgbClr val="454140"/>
                </a:solidFill>
                <a:latin typeface="Cambria"/>
                <a:cs typeface="Cambria"/>
              </a:rPr>
              <a:t>Powered</a:t>
            </a:r>
            <a:r>
              <a:rPr dirty="0" sz="2800" spc="15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00" b="1">
                <a:solidFill>
                  <a:srgbClr val="454140"/>
                </a:solidFill>
                <a:latin typeface="Cambria"/>
                <a:cs typeface="Cambria"/>
              </a:rPr>
              <a:t>Detection</a:t>
            </a:r>
            <a:endParaRPr sz="2800">
              <a:latin typeface="Cambria"/>
              <a:cs typeface="Cambria"/>
            </a:endParaRPr>
          </a:p>
          <a:p>
            <a:pPr marL="55244">
              <a:lnSpc>
                <a:spcPct val="100000"/>
              </a:lnSpc>
              <a:spcBef>
                <a:spcPts val="520"/>
              </a:spcBef>
            </a:pPr>
            <a:r>
              <a:rPr dirty="0" sz="2400" spc="114">
                <a:solidFill>
                  <a:srgbClr val="454140"/>
                </a:solidFill>
                <a:latin typeface="Tahoma"/>
                <a:cs typeface="Tahoma"/>
              </a:rPr>
              <a:t>Advanced</a:t>
            </a:r>
            <a:r>
              <a:rPr dirty="0" sz="240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454140"/>
                </a:solidFill>
                <a:latin typeface="Tahoma"/>
                <a:cs typeface="Tahoma"/>
              </a:rPr>
              <a:t>algorithms</a:t>
            </a:r>
            <a:r>
              <a:rPr dirty="0" sz="24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5">
                <a:solidFill>
                  <a:srgbClr val="454140"/>
                </a:solidFill>
                <a:latin typeface="Tahoma"/>
                <a:cs typeface="Tahoma"/>
              </a:rPr>
              <a:t>identify</a:t>
            </a:r>
            <a:r>
              <a:rPr dirty="0" sz="24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4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patterns,</a:t>
            </a:r>
            <a:r>
              <a:rPr dirty="0" sz="24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454140"/>
                </a:solidFill>
                <a:latin typeface="Tahoma"/>
                <a:cs typeface="Tahoma"/>
              </a:rPr>
              <a:t>suspicious</a:t>
            </a:r>
            <a:r>
              <a:rPr dirty="0" sz="24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language,</a:t>
            </a: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  <a:spcBef>
                <a:spcPts val="1019"/>
              </a:spcBef>
            </a:pP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454140"/>
                </a:solidFill>
                <a:latin typeface="Tahoma"/>
                <a:cs typeface="Tahoma"/>
              </a:rPr>
              <a:t>fraudulent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454140"/>
                </a:solidFill>
                <a:latin typeface="Tahoma"/>
                <a:cs typeface="Tahoma"/>
              </a:rPr>
              <a:t>indicators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454140"/>
                </a:solidFill>
                <a:latin typeface="Tahoma"/>
                <a:cs typeface="Tahoma"/>
              </a:rPr>
              <a:t>exceptional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454140"/>
                </a:solidFill>
                <a:latin typeface="Tahoma"/>
                <a:cs typeface="Tahoma"/>
              </a:rPr>
              <a:t>accuracy.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2800" spc="235" b="1">
                <a:solidFill>
                  <a:srgbClr val="454140"/>
                </a:solidFill>
                <a:latin typeface="Cambria"/>
                <a:cs typeface="Cambria"/>
              </a:rPr>
              <a:t>Clear</a:t>
            </a:r>
            <a:r>
              <a:rPr dirty="0" sz="2800" spc="12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85" b="1">
                <a:solidFill>
                  <a:srgbClr val="454140"/>
                </a:solidFill>
                <a:latin typeface="Cambria"/>
                <a:cs typeface="Cambria"/>
              </a:rPr>
              <a:t>Risk</a:t>
            </a:r>
            <a:r>
              <a:rPr dirty="0" sz="2800" spc="12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75" b="1">
                <a:solidFill>
                  <a:srgbClr val="454140"/>
                </a:solidFill>
                <a:latin typeface="Cambria"/>
                <a:cs typeface="Cambria"/>
              </a:rPr>
              <a:t>Classification</a:t>
            </a:r>
            <a:endParaRPr sz="2800">
              <a:latin typeface="Cambria"/>
              <a:cs typeface="Cambria"/>
            </a:endParaRPr>
          </a:p>
          <a:p>
            <a:pPr marL="55244">
              <a:lnSpc>
                <a:spcPct val="100000"/>
              </a:lnSpc>
              <a:spcBef>
                <a:spcPts val="520"/>
              </a:spcBef>
            </a:pPr>
            <a:r>
              <a:rPr dirty="0" sz="2400" spc="90">
                <a:solidFill>
                  <a:srgbClr val="454140"/>
                </a:solidFill>
                <a:latin typeface="Tahoma"/>
                <a:cs typeface="Tahoma"/>
              </a:rPr>
              <a:t>Messages</a:t>
            </a:r>
            <a:r>
              <a:rPr dirty="0" sz="24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454140"/>
                </a:solidFill>
                <a:latin typeface="Tahoma"/>
                <a:cs typeface="Tahoma"/>
              </a:rPr>
              <a:t>categorised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as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Safe,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Warning,</a:t>
            </a:r>
            <a:r>
              <a:rPr dirty="0" sz="24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60">
                <a:solidFill>
                  <a:srgbClr val="454140"/>
                </a:solidFill>
                <a:latin typeface="Tahoma"/>
                <a:cs typeface="Tahoma"/>
              </a:rPr>
              <a:t>or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5">
                <a:solidFill>
                  <a:srgbClr val="454140"/>
                </a:solidFill>
                <a:latin typeface="Tahoma"/>
                <a:cs typeface="Tahoma"/>
              </a:rPr>
              <a:t>simple</a:t>
            </a: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  <a:spcBef>
                <a:spcPts val="1019"/>
              </a:spcBef>
            </a:pP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explanations:</a:t>
            </a:r>
            <a:r>
              <a:rPr dirty="0" sz="24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30">
                <a:solidFill>
                  <a:srgbClr val="454140"/>
                </a:solidFill>
                <a:latin typeface="Tahoma"/>
                <a:cs typeface="Tahoma"/>
              </a:rPr>
              <a:t>"This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454140"/>
                </a:solidFill>
                <a:latin typeface="Tahoma"/>
                <a:cs typeface="Tahoma"/>
              </a:rPr>
              <a:t>message</a:t>
            </a:r>
            <a:r>
              <a:rPr dirty="0" sz="24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454140"/>
                </a:solidFill>
                <a:latin typeface="Tahoma"/>
                <a:cs typeface="Tahoma"/>
              </a:rPr>
              <a:t>may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135">
                <a:solidFill>
                  <a:srgbClr val="454140"/>
                </a:solidFill>
                <a:latin typeface="Tahoma"/>
                <a:cs typeface="Tahoma"/>
              </a:rPr>
              <a:t>be</a:t>
            </a:r>
            <a:r>
              <a:rPr dirty="0" sz="24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a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4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because..."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  <a:spcBef>
                <a:spcPts val="5"/>
              </a:spcBef>
            </a:pPr>
            <a:r>
              <a:rPr dirty="0" sz="2800" spc="240" b="1">
                <a:solidFill>
                  <a:srgbClr val="454140"/>
                </a:solidFill>
                <a:latin typeface="Cambria"/>
                <a:cs typeface="Cambria"/>
              </a:rPr>
              <a:t>Senior-</a:t>
            </a:r>
            <a:r>
              <a:rPr dirty="0" sz="2800" spc="220" b="1">
                <a:solidFill>
                  <a:srgbClr val="454140"/>
                </a:solidFill>
                <a:latin typeface="Cambria"/>
                <a:cs typeface="Cambria"/>
              </a:rPr>
              <a:t>Friendly</a:t>
            </a:r>
            <a:r>
              <a:rPr dirty="0" sz="2800" spc="15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70" b="1">
                <a:solidFill>
                  <a:srgbClr val="454140"/>
                </a:solidFill>
                <a:latin typeface="Cambria"/>
                <a:cs typeface="Cambria"/>
              </a:rPr>
              <a:t>Interface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Clean,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5">
                <a:solidFill>
                  <a:srgbClr val="454140"/>
                </a:solidFill>
                <a:latin typeface="Tahoma"/>
                <a:cs typeface="Tahoma"/>
              </a:rPr>
              <a:t>intuitive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design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4140"/>
                </a:solidFill>
                <a:latin typeface="Tahoma"/>
                <a:cs typeface="Tahoma"/>
              </a:rPr>
              <a:t>large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454140"/>
                </a:solidFill>
                <a:latin typeface="Tahoma"/>
                <a:cs typeface="Tahoma"/>
              </a:rPr>
              <a:t>text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4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454140"/>
                </a:solidFill>
                <a:latin typeface="Tahoma"/>
                <a:cs typeface="Tahoma"/>
              </a:rPr>
              <a:t>clear</a:t>
            </a:r>
            <a:r>
              <a:rPr dirty="0" sz="24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navigation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 spc="105">
                <a:solidFill>
                  <a:srgbClr val="454140"/>
                </a:solidFill>
                <a:latin typeface="Tahoma"/>
                <a:cs typeface="Tahoma"/>
              </a:rPr>
              <a:t>optimised</a:t>
            </a:r>
            <a:r>
              <a:rPr dirty="0" sz="24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454140"/>
                </a:solidFill>
                <a:latin typeface="Tahoma"/>
                <a:cs typeface="Tahoma"/>
              </a:rPr>
              <a:t>specifically</a:t>
            </a:r>
            <a:r>
              <a:rPr dirty="0" sz="24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4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454140"/>
                </a:solidFill>
                <a:latin typeface="Tahoma"/>
                <a:cs typeface="Tahoma"/>
              </a:rPr>
              <a:t>elderly</a:t>
            </a:r>
            <a:r>
              <a:rPr dirty="0" sz="24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4140"/>
                </a:solidFill>
                <a:latin typeface="Tahoma"/>
                <a:cs typeface="Tahoma"/>
              </a:rPr>
              <a:t>users.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25577"/>
            <a:ext cx="7522396" cy="5553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1601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10"/>
              </a:spcBef>
            </a:pPr>
            <a:r>
              <a:rPr dirty="0" sz="5550" spc="500"/>
              <a:t>System</a:t>
            </a:r>
            <a:r>
              <a:rPr dirty="0" sz="5550" spc="265"/>
              <a:t> </a:t>
            </a:r>
            <a:r>
              <a:rPr dirty="0" sz="5550" spc="425"/>
              <a:t>Overview:</a:t>
            </a:r>
            <a:r>
              <a:rPr dirty="0" sz="5550" spc="270"/>
              <a:t> </a:t>
            </a:r>
            <a:r>
              <a:rPr dirty="0" sz="5550" spc="585"/>
              <a:t>What</a:t>
            </a:r>
            <a:r>
              <a:rPr dirty="0" sz="5550" spc="270"/>
              <a:t> </a:t>
            </a:r>
            <a:r>
              <a:rPr dirty="0" sz="5550" spc="455"/>
              <a:t>We've</a:t>
            </a:r>
            <a:r>
              <a:rPr dirty="0" sz="5550" spc="270"/>
              <a:t> </a:t>
            </a:r>
            <a:r>
              <a:rPr dirty="0" sz="5550" spc="385"/>
              <a:t>Built</a:t>
            </a:r>
            <a:endParaRPr sz="55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3380584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4431096"/>
            <a:ext cx="114300" cy="1142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5481608"/>
            <a:ext cx="114300" cy="1142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5960621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6439632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6918645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7397656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128" y="7876668"/>
            <a:ext cx="114300" cy="1142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511628" y="2258983"/>
            <a:ext cx="9599930" cy="6920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54" b="1">
                <a:solidFill>
                  <a:srgbClr val="5C4E3C"/>
                </a:solidFill>
                <a:latin typeface="Cambria"/>
                <a:cs typeface="Cambria"/>
              </a:rPr>
              <a:t>Comprehensive</a:t>
            </a:r>
            <a:r>
              <a:rPr dirty="0" sz="2800" spc="145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800" spc="225" b="1">
                <a:solidFill>
                  <a:srgbClr val="5C4E3C"/>
                </a:solidFill>
                <a:latin typeface="Cambria"/>
                <a:cs typeface="Cambria"/>
              </a:rPr>
              <a:t>Platform</a:t>
            </a:r>
            <a:r>
              <a:rPr dirty="0" sz="2800" spc="145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800" spc="140" b="1">
                <a:solidFill>
                  <a:srgbClr val="5C4E3C"/>
                </a:solidFill>
                <a:latin typeface="Cambria"/>
                <a:cs typeface="Cambria"/>
              </a:rPr>
              <a:t>Features</a:t>
            </a:r>
            <a:endParaRPr sz="2800">
              <a:latin typeface="Cambria"/>
              <a:cs typeface="Cambria"/>
            </a:endParaRPr>
          </a:p>
          <a:p>
            <a:pPr marL="616585" marR="59055">
              <a:lnSpc>
                <a:spcPct val="122800"/>
              </a:lnSpc>
              <a:spcBef>
                <a:spcPts val="3155"/>
              </a:spcBef>
            </a:pPr>
            <a:r>
              <a:rPr dirty="0" sz="2800" spc="185" b="1">
                <a:solidFill>
                  <a:srgbClr val="454140"/>
                </a:solidFill>
                <a:latin typeface="Trebuchet MS"/>
                <a:cs typeface="Trebuchet MS"/>
              </a:rPr>
              <a:t>Scam</a:t>
            </a:r>
            <a:r>
              <a:rPr dirty="0" sz="2800" spc="-16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105" b="1">
                <a:solidFill>
                  <a:srgbClr val="454140"/>
                </a:solidFill>
                <a:latin typeface="Trebuchet MS"/>
                <a:cs typeface="Trebuchet MS"/>
              </a:rPr>
              <a:t>Guard</a:t>
            </a:r>
            <a:r>
              <a:rPr dirty="0" sz="2800" spc="-9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provides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AI-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powered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protection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454140"/>
                </a:solidFill>
                <a:latin typeface="Tahoma"/>
                <a:cs typeface="Tahoma"/>
              </a:rPr>
              <a:t>through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an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accessible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80">
                <a:solidFill>
                  <a:srgbClr val="454140"/>
                </a:solidFill>
                <a:latin typeface="Tahoma"/>
                <a:cs typeface="Tahoma"/>
              </a:rPr>
              <a:t>web-</a:t>
            </a:r>
            <a:r>
              <a:rPr dirty="0" sz="2800" spc="135">
                <a:solidFill>
                  <a:srgbClr val="454140"/>
                </a:solidFill>
                <a:latin typeface="Tahoma"/>
                <a:cs typeface="Tahoma"/>
              </a:rPr>
              <a:t>based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platform.</a:t>
            </a:r>
            <a:endParaRPr sz="2800">
              <a:latin typeface="Tahoma"/>
              <a:cs typeface="Tahoma"/>
            </a:endParaRPr>
          </a:p>
          <a:p>
            <a:pPr marL="616585" marR="1311910">
              <a:lnSpc>
                <a:spcPct val="122800"/>
              </a:lnSpc>
              <a:spcBef>
                <a:spcPts val="20"/>
              </a:spcBef>
            </a:pP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Analyse:</a:t>
            </a:r>
            <a:r>
              <a:rPr dirty="0" sz="2800" spc="-2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Real-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time</a:t>
            </a:r>
            <a:r>
              <a:rPr dirty="0" sz="28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message</a:t>
            </a:r>
            <a:r>
              <a:rPr dirty="0" sz="2800" spc="-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scanning</a:t>
            </a:r>
            <a:r>
              <a:rPr dirty="0" sz="28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454140"/>
                </a:solidFill>
                <a:latin typeface="Tahoma"/>
                <a:cs typeface="Tahoma"/>
              </a:rPr>
              <a:t>risk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assessment</a:t>
            </a:r>
            <a:endParaRPr sz="2800">
              <a:latin typeface="Tahoma"/>
              <a:cs typeface="Tahoma"/>
            </a:endParaRPr>
          </a:p>
          <a:p>
            <a:pPr marL="616585" marR="5080">
              <a:lnSpc>
                <a:spcPct val="115300"/>
              </a:lnSpc>
              <a:spcBef>
                <a:spcPts val="270"/>
              </a:spcBef>
            </a:pP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History:</a:t>
            </a:r>
            <a:r>
              <a:rPr dirty="0" sz="2800" spc="-5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Track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all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analysed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messages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patterns </a:t>
            </a:r>
            <a:r>
              <a:rPr dirty="0" sz="2800" spc="-20" b="1">
                <a:solidFill>
                  <a:srgbClr val="454140"/>
                </a:solidFill>
                <a:latin typeface="Trebuchet MS"/>
                <a:cs typeface="Trebuchet MS"/>
              </a:rPr>
              <a:t>Family:</a:t>
            </a:r>
            <a:r>
              <a:rPr dirty="0" sz="2800" spc="-10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Collaborative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protection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alert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sharing </a:t>
            </a:r>
            <a:r>
              <a:rPr dirty="0" sz="2800" spc="-35" b="1">
                <a:solidFill>
                  <a:srgbClr val="454140"/>
                </a:solidFill>
                <a:latin typeface="Trebuchet MS"/>
                <a:cs typeface="Trebuchet MS"/>
              </a:rPr>
              <a:t>Learn:</a:t>
            </a:r>
            <a:r>
              <a:rPr dirty="0" sz="2800" spc="-11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Educational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resources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awareness </a:t>
            </a:r>
            <a:r>
              <a:rPr dirty="0" sz="2800" spc="45" b="1">
                <a:solidFill>
                  <a:srgbClr val="454140"/>
                </a:solidFill>
                <a:latin typeface="Trebuchet MS"/>
                <a:cs typeface="Trebuchet MS"/>
              </a:rPr>
              <a:t>Settings:</a:t>
            </a:r>
            <a:r>
              <a:rPr dirty="0" sz="2800" spc="-9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Customisable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preferences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notifications </a:t>
            </a:r>
            <a:r>
              <a:rPr dirty="0" sz="2800" spc="-60" b="1">
                <a:solidFill>
                  <a:srgbClr val="454140"/>
                </a:solidFill>
                <a:latin typeface="Trebuchet MS"/>
                <a:cs typeface="Trebuchet MS"/>
              </a:rPr>
              <a:t>Profile:</a:t>
            </a:r>
            <a:r>
              <a:rPr dirty="0" sz="2800" spc="-9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Personal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dashboard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account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management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The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prototype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includes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secure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454140"/>
                </a:solidFill>
                <a:latin typeface="Tahoma"/>
                <a:cs typeface="Tahoma"/>
              </a:rPr>
              <a:t>login,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454140"/>
                </a:solidFill>
                <a:latin typeface="Tahoma"/>
                <a:cs typeface="Tahoma"/>
              </a:rPr>
              <a:t>demo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454140"/>
                </a:solidFill>
                <a:latin typeface="Tahoma"/>
                <a:cs typeface="Tahoma"/>
              </a:rPr>
              <a:t>mode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25">
                <a:solidFill>
                  <a:srgbClr val="454140"/>
                </a:solidFill>
                <a:latin typeface="Tahoma"/>
                <a:cs typeface="Tahoma"/>
              </a:rPr>
              <a:t>for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testing,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clean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454140"/>
                </a:solidFill>
                <a:latin typeface="Tahoma"/>
                <a:cs typeface="Tahoma"/>
              </a:rPr>
              <a:t>pastel-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themed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interface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designed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clarity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ease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of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454140"/>
                </a:solidFill>
                <a:latin typeface="Tahoma"/>
                <a:cs typeface="Tahoma"/>
              </a:rPr>
              <a:t>use.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10"/>
              </a:spcBef>
            </a:pPr>
            <a:r>
              <a:rPr dirty="0" sz="5550" spc="590"/>
              <a:t>Core</a:t>
            </a:r>
            <a:r>
              <a:rPr dirty="0" sz="5550" spc="260"/>
              <a:t> </a:t>
            </a:r>
            <a:r>
              <a:rPr dirty="0" sz="5550" spc="345"/>
              <a:t>Capabilities</a:t>
            </a:r>
            <a:r>
              <a:rPr dirty="0" sz="5550" spc="265"/>
              <a:t> </a:t>
            </a:r>
            <a:r>
              <a:rPr dirty="0" sz="5550" spc="480"/>
              <a:t>That</a:t>
            </a:r>
            <a:r>
              <a:rPr dirty="0" sz="5550" spc="260"/>
              <a:t> </a:t>
            </a:r>
            <a:r>
              <a:rPr dirty="0" sz="5550" spc="300"/>
              <a:t>Protect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943074" y="1951629"/>
            <a:ext cx="3757295" cy="753681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395"/>
              </a:spcBef>
            </a:pPr>
            <a:r>
              <a:rPr dirty="0" sz="2800" spc="325" b="1">
                <a:solidFill>
                  <a:srgbClr val="454140"/>
                </a:solidFill>
                <a:latin typeface="Cambria"/>
                <a:cs typeface="Cambria"/>
              </a:rPr>
              <a:t>AI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340" b="1">
                <a:solidFill>
                  <a:srgbClr val="454140"/>
                </a:solidFill>
                <a:latin typeface="Cambria"/>
                <a:cs typeface="Cambria"/>
              </a:rPr>
              <a:t>Scam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00" b="1">
                <a:solidFill>
                  <a:srgbClr val="454140"/>
                </a:solidFill>
                <a:latin typeface="Cambria"/>
                <a:cs typeface="Cambria"/>
              </a:rPr>
              <a:t>Detection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Identifies</a:t>
            </a:r>
            <a:r>
              <a:rPr dirty="0" sz="2800" spc="2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phishing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attempts,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fraud messages,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urgency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tones,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suspicious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keywords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454140"/>
                </a:solidFill>
                <a:latin typeface="Tahoma"/>
                <a:cs typeface="Tahoma"/>
              </a:rPr>
              <a:t>using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advanced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0">
                <a:solidFill>
                  <a:srgbClr val="454140"/>
                </a:solidFill>
                <a:latin typeface="Tahoma"/>
                <a:cs typeface="Tahoma"/>
              </a:rPr>
              <a:t>NLP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classification.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Provides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simple,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jargon-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free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explanations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that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elderly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users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can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understand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act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upon.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07435" y="1951629"/>
            <a:ext cx="3812540" cy="525081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380"/>
              </a:spcBef>
            </a:pPr>
            <a:r>
              <a:rPr dirty="0" sz="2800" spc="200" b="1">
                <a:solidFill>
                  <a:srgbClr val="454140"/>
                </a:solidFill>
                <a:latin typeface="Cambria"/>
                <a:cs typeface="Cambria"/>
              </a:rPr>
              <a:t>History</a:t>
            </a:r>
            <a:r>
              <a:rPr dirty="0" sz="2800" spc="14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20" b="1">
                <a:solidFill>
                  <a:srgbClr val="454140"/>
                </a:solidFill>
                <a:latin typeface="Cambria"/>
                <a:cs typeface="Cambria"/>
              </a:rPr>
              <a:t>Tracking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Maintains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comprehensive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records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of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all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analysed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messages,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allowing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users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review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past communications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and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identify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454140"/>
                </a:solidFill>
                <a:latin typeface="Tahoma"/>
                <a:cs typeface="Tahoma"/>
              </a:rPr>
              <a:t>emerging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trends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over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time.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71942" y="1951629"/>
            <a:ext cx="3694429" cy="46793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375"/>
              </a:spcBef>
            </a:pPr>
            <a:r>
              <a:rPr dirty="0" sz="2800" spc="270" b="1">
                <a:solidFill>
                  <a:srgbClr val="454140"/>
                </a:solidFill>
                <a:latin typeface="Cambria"/>
                <a:cs typeface="Cambria"/>
              </a:rPr>
              <a:t>Family</a:t>
            </a:r>
            <a:r>
              <a:rPr dirty="0" sz="2800" spc="14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340" b="1">
                <a:solidFill>
                  <a:srgbClr val="454140"/>
                </a:solidFill>
                <a:latin typeface="Cambria"/>
                <a:cs typeface="Cambria"/>
              </a:rPr>
              <a:t>Mode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Enables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trusted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family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members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monitor alerts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intervene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early</a:t>
            </a:r>
            <a:r>
              <a:rPr dirty="0" sz="280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when</a:t>
            </a:r>
            <a:r>
              <a:rPr dirty="0" sz="280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potential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threats</a:t>
            </a:r>
            <a:r>
              <a:rPr dirty="0" sz="28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are</a:t>
            </a:r>
            <a:r>
              <a:rPr dirty="0" sz="280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detected,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creating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safety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net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of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support.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436451" y="1951629"/>
            <a:ext cx="3524250" cy="525081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380"/>
              </a:spcBef>
            </a:pPr>
            <a:r>
              <a:rPr dirty="0" sz="2800" spc="240" b="1">
                <a:solidFill>
                  <a:srgbClr val="454140"/>
                </a:solidFill>
                <a:latin typeface="Cambria"/>
                <a:cs typeface="Cambria"/>
              </a:rPr>
              <a:t>Learning</a:t>
            </a:r>
            <a:r>
              <a:rPr dirty="0" sz="2800" spc="15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300" b="1">
                <a:solidFill>
                  <a:srgbClr val="454140"/>
                </a:solidFill>
                <a:latin typeface="Cambria"/>
                <a:cs typeface="Cambria"/>
              </a:rPr>
              <a:t>Module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Educates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seniors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on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identifying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common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tactics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454140"/>
                </a:solidFill>
                <a:latin typeface="Tahoma"/>
                <a:cs typeface="Tahoma"/>
              </a:rPr>
              <a:t>through </a:t>
            </a:r>
            <a:r>
              <a:rPr dirty="0" sz="2800" spc="165">
                <a:solidFill>
                  <a:srgbClr val="454140"/>
                </a:solidFill>
                <a:latin typeface="Tahoma"/>
                <a:cs typeface="Tahoma"/>
              </a:rPr>
              <a:t>easy-</a:t>
            </a:r>
            <a:r>
              <a:rPr dirty="0" sz="2800" spc="220">
                <a:solidFill>
                  <a:srgbClr val="454140"/>
                </a:solidFill>
                <a:latin typeface="Tahoma"/>
                <a:cs typeface="Tahoma"/>
              </a:rPr>
              <a:t>to-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digest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awareness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materials,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building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long-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term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digital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literacy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and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confidence.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809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130"/>
              </a:spcBef>
            </a:pPr>
            <a:r>
              <a:rPr dirty="0" sz="4800" spc="650"/>
              <a:t>How</a:t>
            </a:r>
            <a:r>
              <a:rPr dirty="0" sz="4800" spc="240"/>
              <a:t> </a:t>
            </a:r>
            <a:r>
              <a:rPr dirty="0" sz="4800" spc="380"/>
              <a:t>Detection</a:t>
            </a:r>
            <a:r>
              <a:rPr dirty="0" sz="4800" spc="240"/>
              <a:t> </a:t>
            </a:r>
            <a:r>
              <a:rPr dirty="0" sz="4800" spc="455"/>
              <a:t>Works</a:t>
            </a:r>
            <a:r>
              <a:rPr dirty="0" sz="4800" spc="245"/>
              <a:t> </a:t>
            </a:r>
            <a:r>
              <a:rPr dirty="0" sz="4800" spc="470"/>
              <a:t>Behind</a:t>
            </a:r>
            <a:r>
              <a:rPr dirty="0" sz="4800" spc="240"/>
              <a:t> </a:t>
            </a:r>
            <a:r>
              <a:rPr dirty="0" sz="4800" spc="300"/>
              <a:t>the</a:t>
            </a:r>
            <a:r>
              <a:rPr dirty="0" sz="4800" spc="245"/>
              <a:t> </a:t>
            </a:r>
            <a:r>
              <a:rPr dirty="0" sz="4800" spc="380"/>
              <a:t>Scenes</a:t>
            </a:r>
            <a:endParaRPr sz="4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74" y="2482957"/>
            <a:ext cx="1355913" cy="162603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110" y="4416309"/>
            <a:ext cx="1355913" cy="199655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pc="204"/>
              <a:t>Message</a:t>
            </a:r>
            <a:r>
              <a:rPr dirty="0" spc="150"/>
              <a:t> </a:t>
            </a:r>
            <a:r>
              <a:rPr dirty="0" spc="200"/>
              <a:t>Input</a:t>
            </a:r>
          </a:p>
          <a:p>
            <a:pPr marL="12700" marR="461009">
              <a:lnSpc>
                <a:spcPct val="131700"/>
              </a:lnSpc>
              <a:spcBef>
                <a:spcPts val="430"/>
              </a:spcBef>
            </a:pPr>
            <a:r>
              <a:rPr dirty="0" sz="2800" spc="120" b="0">
                <a:latin typeface="Tahoma"/>
                <a:cs typeface="Tahoma"/>
              </a:rPr>
              <a:t>System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105" b="0">
                <a:latin typeface="Tahoma"/>
                <a:cs typeface="Tahoma"/>
              </a:rPr>
              <a:t>extracts</a:t>
            </a:r>
            <a:r>
              <a:rPr dirty="0" sz="2800" spc="-125" b="0">
                <a:latin typeface="Tahoma"/>
                <a:cs typeface="Tahoma"/>
              </a:rPr>
              <a:t> </a:t>
            </a:r>
            <a:r>
              <a:rPr dirty="0" sz="2800" spc="80" b="0">
                <a:latin typeface="Tahoma"/>
                <a:cs typeface="Tahoma"/>
              </a:rPr>
              <a:t>and</a:t>
            </a:r>
            <a:r>
              <a:rPr dirty="0" sz="2800" spc="-125" b="0">
                <a:latin typeface="Tahoma"/>
                <a:cs typeface="Tahoma"/>
              </a:rPr>
              <a:t> </a:t>
            </a:r>
            <a:r>
              <a:rPr dirty="0" sz="2800" spc="140" b="0">
                <a:latin typeface="Tahoma"/>
                <a:cs typeface="Tahoma"/>
              </a:rPr>
              <a:t>processes</a:t>
            </a:r>
            <a:r>
              <a:rPr dirty="0" sz="2800" spc="-125" b="0">
                <a:latin typeface="Tahoma"/>
                <a:cs typeface="Tahoma"/>
              </a:rPr>
              <a:t> </a:t>
            </a:r>
            <a:r>
              <a:rPr dirty="0" sz="2800" spc="95" b="0">
                <a:latin typeface="Tahoma"/>
                <a:cs typeface="Tahoma"/>
              </a:rPr>
              <a:t>text</a:t>
            </a:r>
            <a:r>
              <a:rPr dirty="0" sz="2800" spc="-125" b="0">
                <a:latin typeface="Tahoma"/>
                <a:cs typeface="Tahoma"/>
              </a:rPr>
              <a:t> </a:t>
            </a:r>
            <a:r>
              <a:rPr dirty="0" sz="2800" spc="70" b="0">
                <a:latin typeface="Tahoma"/>
                <a:cs typeface="Tahoma"/>
              </a:rPr>
              <a:t>from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65" b="0">
                <a:latin typeface="Tahoma"/>
                <a:cs typeface="Tahoma"/>
              </a:rPr>
              <a:t>incoming </a:t>
            </a:r>
            <a:r>
              <a:rPr dirty="0" sz="2800" spc="95" b="0">
                <a:latin typeface="Tahoma"/>
                <a:cs typeface="Tahoma"/>
              </a:rPr>
              <a:t>communications</a:t>
            </a:r>
            <a:endParaRPr sz="2800">
              <a:latin typeface="Tahoma"/>
              <a:cs typeface="Tahoma"/>
            </a:endParaRPr>
          </a:p>
          <a:p>
            <a:pPr marL="67310">
              <a:lnSpc>
                <a:spcPct val="100000"/>
              </a:lnSpc>
              <a:spcBef>
                <a:spcPts val="2820"/>
              </a:spcBef>
            </a:pPr>
            <a:r>
              <a:rPr dirty="0" spc="140"/>
              <a:t>Pattern</a:t>
            </a:r>
            <a:r>
              <a:rPr dirty="0" spc="150"/>
              <a:t> </a:t>
            </a:r>
            <a:r>
              <a:rPr dirty="0" spc="165"/>
              <a:t>Analysis</a:t>
            </a:r>
          </a:p>
          <a:p>
            <a:pPr marL="67310" marR="5080">
              <a:lnSpc>
                <a:spcPct val="131700"/>
              </a:lnSpc>
              <a:spcBef>
                <a:spcPts val="434"/>
              </a:spcBef>
            </a:pPr>
            <a:r>
              <a:rPr dirty="0" sz="2800" spc="-130" b="0">
                <a:latin typeface="Tahoma"/>
                <a:cs typeface="Tahoma"/>
              </a:rPr>
              <a:t>AI</a:t>
            </a:r>
            <a:r>
              <a:rPr dirty="0" sz="2800" spc="-125" b="0">
                <a:latin typeface="Tahoma"/>
                <a:cs typeface="Tahoma"/>
              </a:rPr>
              <a:t> </a:t>
            </a:r>
            <a:r>
              <a:rPr dirty="0" sz="2800" spc="70" b="0">
                <a:latin typeface="Tahoma"/>
                <a:cs typeface="Tahoma"/>
              </a:rPr>
              <a:t>examines</a:t>
            </a:r>
            <a:r>
              <a:rPr dirty="0" sz="2800" spc="-110" b="0">
                <a:latin typeface="Tahoma"/>
                <a:cs typeface="Tahoma"/>
              </a:rPr>
              <a:t> </a:t>
            </a:r>
            <a:r>
              <a:rPr dirty="0" sz="2800" spc="80" b="0">
                <a:latin typeface="Tahoma"/>
                <a:cs typeface="Tahoma"/>
              </a:rPr>
              <a:t>urgency</a:t>
            </a:r>
            <a:r>
              <a:rPr dirty="0" sz="2800" spc="-114" b="0">
                <a:latin typeface="Tahoma"/>
                <a:cs typeface="Tahoma"/>
              </a:rPr>
              <a:t> </a:t>
            </a:r>
            <a:r>
              <a:rPr dirty="0" sz="2800" spc="55" b="0">
                <a:latin typeface="Tahoma"/>
                <a:cs typeface="Tahoma"/>
              </a:rPr>
              <a:t>indicators,</a:t>
            </a:r>
            <a:r>
              <a:rPr dirty="0" sz="2800" spc="-110" b="0">
                <a:latin typeface="Tahoma"/>
                <a:cs typeface="Tahoma"/>
              </a:rPr>
              <a:t> </a:t>
            </a:r>
            <a:r>
              <a:rPr dirty="0" sz="2800" spc="105" b="0">
                <a:latin typeface="Tahoma"/>
                <a:cs typeface="Tahoma"/>
              </a:rPr>
              <a:t>money</a:t>
            </a:r>
            <a:r>
              <a:rPr dirty="0" sz="2800" spc="-114" b="0">
                <a:latin typeface="Tahoma"/>
                <a:cs typeface="Tahoma"/>
              </a:rPr>
              <a:t> </a:t>
            </a:r>
            <a:r>
              <a:rPr dirty="0" sz="2800" spc="55" b="0">
                <a:latin typeface="Tahoma"/>
                <a:cs typeface="Tahoma"/>
              </a:rPr>
              <a:t>requests,</a:t>
            </a:r>
            <a:r>
              <a:rPr dirty="0" sz="2800" spc="-110" b="0">
                <a:latin typeface="Tahoma"/>
                <a:cs typeface="Tahoma"/>
              </a:rPr>
              <a:t> </a:t>
            </a:r>
            <a:r>
              <a:rPr dirty="0" sz="2800" spc="40" b="0">
                <a:latin typeface="Tahoma"/>
                <a:cs typeface="Tahoma"/>
              </a:rPr>
              <a:t>OTP </a:t>
            </a:r>
            <a:r>
              <a:rPr dirty="0" sz="2800" spc="60" b="0">
                <a:latin typeface="Tahoma"/>
                <a:cs typeface="Tahoma"/>
              </a:rPr>
              <a:t>demands,</a:t>
            </a:r>
            <a:r>
              <a:rPr dirty="0" sz="2800" spc="-135" b="0">
                <a:latin typeface="Tahoma"/>
                <a:cs typeface="Tahoma"/>
              </a:rPr>
              <a:t> </a:t>
            </a:r>
            <a:r>
              <a:rPr dirty="0" sz="2800" spc="55" b="0">
                <a:latin typeface="Tahoma"/>
                <a:cs typeface="Tahoma"/>
              </a:rPr>
              <a:t>fraud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-25" b="0">
                <a:latin typeface="Tahoma"/>
                <a:cs typeface="Tahoma"/>
              </a:rPr>
              <a:t>links,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80" b="0">
                <a:latin typeface="Tahoma"/>
                <a:cs typeface="Tahoma"/>
              </a:rPr>
              <a:t>and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95" b="0">
                <a:latin typeface="Tahoma"/>
                <a:cs typeface="Tahoma"/>
              </a:rPr>
              <a:t>sender</a:t>
            </a:r>
            <a:r>
              <a:rPr dirty="0" sz="2800" spc="-130" b="0">
                <a:latin typeface="Tahoma"/>
                <a:cs typeface="Tahoma"/>
              </a:rPr>
              <a:t> </a:t>
            </a:r>
            <a:r>
              <a:rPr dirty="0" sz="2800" spc="80" b="0">
                <a:latin typeface="Tahoma"/>
                <a:cs typeface="Tahoma"/>
              </a:rPr>
              <a:t>authenticity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110" y="6904913"/>
            <a:ext cx="1355913" cy="162603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097638" y="6688300"/>
            <a:ext cx="9332595" cy="1780539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600" spc="170" b="1">
                <a:solidFill>
                  <a:srgbClr val="454140"/>
                </a:solidFill>
                <a:latin typeface="Cambria"/>
                <a:cs typeface="Cambria"/>
              </a:rPr>
              <a:t>Classification</a:t>
            </a:r>
            <a:endParaRPr sz="2600">
              <a:latin typeface="Cambria"/>
              <a:cs typeface="Cambria"/>
            </a:endParaRPr>
          </a:p>
          <a:p>
            <a:pPr marL="12700" marR="5080">
              <a:lnSpc>
                <a:spcPct val="131700"/>
              </a:lnSpc>
              <a:spcBef>
                <a:spcPts val="430"/>
              </a:spcBef>
            </a:pP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Generates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risk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score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454140"/>
                </a:solidFill>
                <a:latin typeface="Tahoma"/>
                <a:cs typeface="Tahoma"/>
              </a:rPr>
              <a:t>label: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454140"/>
                </a:solidFill>
                <a:latin typeface="Tahoma"/>
                <a:cs typeface="Tahoma"/>
              </a:rPr>
              <a:t>Safe,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Suspicious,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or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Scam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clear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454140"/>
                </a:solidFill>
                <a:latin typeface="Tahoma"/>
                <a:cs typeface="Tahoma"/>
              </a:rPr>
              <a:t>reasoning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2213327" y="1918063"/>
            <a:ext cx="5136515" cy="7732395"/>
            <a:chOff x="12213327" y="1918063"/>
            <a:chExt cx="5136515" cy="7732395"/>
          </a:xfrm>
        </p:grpSpPr>
        <p:sp>
          <p:nvSpPr>
            <p:cNvPr id="9" name="object 9" descr=""/>
            <p:cNvSpPr/>
            <p:nvPr/>
          </p:nvSpPr>
          <p:spPr>
            <a:xfrm>
              <a:off x="12213327" y="1918063"/>
              <a:ext cx="5136515" cy="7732395"/>
            </a:xfrm>
            <a:custGeom>
              <a:avLst/>
              <a:gdLst/>
              <a:ahLst/>
              <a:cxnLst/>
              <a:rect l="l" t="t" r="r" b="b"/>
              <a:pathLst>
                <a:path w="5136515" h="7732395">
                  <a:moveTo>
                    <a:pt x="5087904" y="7732126"/>
                  </a:moveTo>
                  <a:lnTo>
                    <a:pt x="48298" y="7732126"/>
                  </a:lnTo>
                  <a:lnTo>
                    <a:pt x="40943" y="7726934"/>
                  </a:lnTo>
                  <a:lnTo>
                    <a:pt x="22610" y="7672931"/>
                  </a:lnTo>
                  <a:lnTo>
                    <a:pt x="15021" y="7629110"/>
                  </a:lnTo>
                  <a:lnTo>
                    <a:pt x="8759" y="7576003"/>
                  </a:lnTo>
                  <a:lnTo>
                    <a:pt x="4031" y="7515055"/>
                  </a:lnTo>
                  <a:lnTo>
                    <a:pt x="1042" y="7447710"/>
                  </a:lnTo>
                  <a:lnTo>
                    <a:pt x="0" y="7375413"/>
                  </a:lnTo>
                  <a:lnTo>
                    <a:pt x="0" y="358830"/>
                  </a:lnTo>
                  <a:lnTo>
                    <a:pt x="1042" y="286533"/>
                  </a:lnTo>
                  <a:lnTo>
                    <a:pt x="4031" y="219186"/>
                  </a:lnTo>
                  <a:lnTo>
                    <a:pt x="8759" y="158235"/>
                  </a:lnTo>
                  <a:lnTo>
                    <a:pt x="15021" y="105124"/>
                  </a:lnTo>
                  <a:lnTo>
                    <a:pt x="22610" y="61300"/>
                  </a:lnTo>
                  <a:lnTo>
                    <a:pt x="40943" y="7293"/>
                  </a:lnTo>
                  <a:lnTo>
                    <a:pt x="51273" y="0"/>
                  </a:lnTo>
                  <a:lnTo>
                    <a:pt x="5084930" y="0"/>
                  </a:lnTo>
                  <a:lnTo>
                    <a:pt x="5113592" y="61300"/>
                  </a:lnTo>
                  <a:lnTo>
                    <a:pt x="5121181" y="105124"/>
                  </a:lnTo>
                  <a:lnTo>
                    <a:pt x="5127443" y="158235"/>
                  </a:lnTo>
                  <a:lnTo>
                    <a:pt x="5132172" y="219186"/>
                  </a:lnTo>
                  <a:lnTo>
                    <a:pt x="5135160" y="286533"/>
                  </a:lnTo>
                  <a:lnTo>
                    <a:pt x="5136208" y="358830"/>
                  </a:lnTo>
                  <a:lnTo>
                    <a:pt x="5136208" y="7375413"/>
                  </a:lnTo>
                  <a:lnTo>
                    <a:pt x="5135160" y="7447710"/>
                  </a:lnTo>
                  <a:lnTo>
                    <a:pt x="5132172" y="7515055"/>
                  </a:lnTo>
                  <a:lnTo>
                    <a:pt x="5127443" y="7576003"/>
                  </a:lnTo>
                  <a:lnTo>
                    <a:pt x="5121181" y="7629110"/>
                  </a:lnTo>
                  <a:lnTo>
                    <a:pt x="5113592" y="7672931"/>
                  </a:lnTo>
                  <a:lnTo>
                    <a:pt x="5095260" y="7726934"/>
                  </a:lnTo>
                  <a:lnTo>
                    <a:pt x="5087904" y="7732126"/>
                  </a:lnTo>
                  <a:close/>
                </a:path>
              </a:pathLst>
            </a:custGeom>
            <a:solidFill>
              <a:srgbClr val="F2E3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22847" y="2359626"/>
              <a:ext cx="308263" cy="24663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2818436" y="2590799"/>
            <a:ext cx="4114165" cy="6207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dirty="0" sz="2800" spc="110">
                <a:latin typeface="Tahoma"/>
                <a:cs typeface="Tahoma"/>
              </a:rPr>
              <a:t>Detection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Features: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 spc="135">
                <a:latin typeface="Tahoma"/>
                <a:cs typeface="Tahoma"/>
              </a:rPr>
              <a:t>system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combines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rule- </a:t>
            </a:r>
            <a:r>
              <a:rPr dirty="0" sz="2800" spc="135">
                <a:latin typeface="Tahoma"/>
                <a:cs typeface="Tahoma"/>
              </a:rPr>
              <a:t>based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55">
                <a:latin typeface="Tahoma"/>
                <a:cs typeface="Tahoma"/>
              </a:rPr>
              <a:t>algorithms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with </a:t>
            </a:r>
            <a:r>
              <a:rPr dirty="0" sz="2800" spc="155">
                <a:latin typeface="Tahoma"/>
                <a:cs typeface="Tahoma"/>
              </a:rPr>
              <a:t>GPT-</a:t>
            </a:r>
            <a:r>
              <a:rPr dirty="0" sz="2800" spc="105">
                <a:latin typeface="Tahoma"/>
                <a:cs typeface="Tahoma"/>
              </a:rPr>
              <a:t>powered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55">
                <a:latin typeface="Tahoma"/>
                <a:cs typeface="Tahoma"/>
              </a:rPr>
              <a:t>NLP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logic </a:t>
            </a:r>
            <a:r>
              <a:rPr dirty="0" sz="2800" spc="125">
                <a:latin typeface="Tahoma"/>
                <a:cs typeface="Tahoma"/>
              </a:rPr>
              <a:t>to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identify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keywords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like </a:t>
            </a:r>
            <a:r>
              <a:rPr dirty="0" sz="2800" spc="-90">
                <a:latin typeface="Tahoma"/>
                <a:cs typeface="Tahoma"/>
              </a:rPr>
              <a:t>"urgent",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"immediately", </a:t>
            </a:r>
            <a:r>
              <a:rPr dirty="0" sz="2800">
                <a:latin typeface="Tahoma"/>
                <a:cs typeface="Tahoma"/>
              </a:rPr>
              <a:t>"click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-114">
                <a:latin typeface="Tahoma"/>
                <a:cs typeface="Tahoma"/>
              </a:rPr>
              <a:t>now",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along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with </a:t>
            </a:r>
            <a:r>
              <a:rPr dirty="0" sz="2800" spc="95">
                <a:latin typeface="Tahoma"/>
                <a:cs typeface="Tahoma"/>
              </a:rPr>
              <a:t>patterns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requesting </a:t>
            </a:r>
            <a:r>
              <a:rPr dirty="0" sz="2800" spc="85">
                <a:latin typeface="Tahoma"/>
                <a:cs typeface="Tahoma"/>
              </a:rPr>
              <a:t>sensitive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information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or </a:t>
            </a:r>
            <a:r>
              <a:rPr dirty="0" sz="2800" spc="114">
                <a:latin typeface="Tahoma"/>
                <a:cs typeface="Tahoma"/>
              </a:rPr>
              <a:t>payments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from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unknown </a:t>
            </a:r>
            <a:r>
              <a:rPr dirty="0" sz="2800" spc="55">
                <a:latin typeface="Tahoma"/>
                <a:cs typeface="Tahoma"/>
              </a:rPr>
              <a:t>sources.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677" y="321219"/>
            <a:ext cx="1282954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50"/>
              <a:t>User</a:t>
            </a:r>
            <a:r>
              <a:rPr dirty="0" spc="250"/>
              <a:t> </a:t>
            </a:r>
            <a:r>
              <a:rPr dirty="0" spc="355"/>
              <a:t>Journey:</a:t>
            </a:r>
            <a:r>
              <a:rPr dirty="0" spc="254"/>
              <a:t> </a:t>
            </a:r>
            <a:r>
              <a:rPr dirty="0" spc="415"/>
              <a:t>Step-</a:t>
            </a:r>
            <a:r>
              <a:rPr dirty="0" spc="505"/>
              <a:t>by-</a:t>
            </a:r>
            <a:r>
              <a:rPr dirty="0" spc="385"/>
              <a:t>Step</a:t>
            </a:r>
            <a:r>
              <a:rPr dirty="0" spc="254"/>
              <a:t> </a:t>
            </a:r>
            <a:r>
              <a:rPr dirty="0" spc="305"/>
              <a:t>Protection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243292" y="1769864"/>
            <a:ext cx="1159510" cy="7897495"/>
            <a:chOff x="8243292" y="1769864"/>
            <a:chExt cx="1159510" cy="7897495"/>
          </a:xfrm>
        </p:grpSpPr>
        <p:sp>
          <p:nvSpPr>
            <p:cNvPr id="4" name="object 4" descr=""/>
            <p:cNvSpPr/>
            <p:nvPr/>
          </p:nvSpPr>
          <p:spPr>
            <a:xfrm>
              <a:off x="8243290" y="1774633"/>
              <a:ext cx="915035" cy="7892415"/>
            </a:xfrm>
            <a:custGeom>
              <a:avLst/>
              <a:gdLst/>
              <a:ahLst/>
              <a:cxnLst/>
              <a:rect l="l" t="t" r="r" b="b"/>
              <a:pathLst>
                <a:path w="915034" h="7892415">
                  <a:moveTo>
                    <a:pt x="675792" y="245541"/>
                  </a:moveTo>
                  <a:lnTo>
                    <a:pt x="669417" y="239166"/>
                  </a:lnTo>
                  <a:lnTo>
                    <a:pt x="6375" y="239166"/>
                  </a:lnTo>
                  <a:lnTo>
                    <a:pt x="0" y="245541"/>
                  </a:lnTo>
                  <a:lnTo>
                    <a:pt x="0" y="261353"/>
                  </a:lnTo>
                  <a:lnTo>
                    <a:pt x="6375" y="267741"/>
                  </a:lnTo>
                  <a:lnTo>
                    <a:pt x="669417" y="267741"/>
                  </a:lnTo>
                  <a:lnTo>
                    <a:pt x="675792" y="261353"/>
                  </a:lnTo>
                  <a:lnTo>
                    <a:pt x="675792" y="245541"/>
                  </a:lnTo>
                  <a:close/>
                </a:path>
                <a:path w="915034" h="7892415">
                  <a:moveTo>
                    <a:pt x="914984" y="6375"/>
                  </a:moveTo>
                  <a:lnTo>
                    <a:pt x="908608" y="0"/>
                  </a:lnTo>
                  <a:lnTo>
                    <a:pt x="892797" y="0"/>
                  </a:lnTo>
                  <a:lnTo>
                    <a:pt x="886409" y="6375"/>
                  </a:lnTo>
                  <a:lnTo>
                    <a:pt x="886409" y="7885836"/>
                  </a:lnTo>
                  <a:lnTo>
                    <a:pt x="892797" y="7892224"/>
                  </a:lnTo>
                  <a:lnTo>
                    <a:pt x="908608" y="7892224"/>
                  </a:lnTo>
                  <a:lnTo>
                    <a:pt x="914984" y="7885836"/>
                  </a:lnTo>
                  <a:lnTo>
                    <a:pt x="914984" y="6375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90545" y="1774626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4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885783" y="1769864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0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64415" y="16582"/>
                  </a:lnTo>
                  <a:lnTo>
                    <a:pt x="35837" y="35837"/>
                  </a:lnTo>
                  <a:lnTo>
                    <a:pt x="16582" y="64415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89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5"/>
                  </a:lnTo>
                  <a:lnTo>
                    <a:pt x="480572" y="35837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0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89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89">
                  <a:moveTo>
                    <a:pt x="417063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3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051973" y="1769935"/>
            <a:ext cx="1841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60">
                <a:solidFill>
                  <a:srgbClr val="454140"/>
                </a:solidFill>
                <a:latin typeface="Cambria"/>
                <a:cs typeface="Cambria"/>
              </a:rPr>
              <a:t>1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1288" y="1742086"/>
            <a:ext cx="7089140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4069715">
              <a:lnSpc>
                <a:spcPct val="100000"/>
              </a:lnSpc>
              <a:spcBef>
                <a:spcPts val="610"/>
              </a:spcBef>
            </a:pPr>
            <a:r>
              <a:rPr dirty="0" sz="2800" spc="185" b="1">
                <a:solidFill>
                  <a:srgbClr val="454140"/>
                </a:solidFill>
                <a:latin typeface="Cambria"/>
                <a:cs typeface="Cambria"/>
              </a:rPr>
              <a:t>Access</a:t>
            </a:r>
            <a:r>
              <a:rPr dirty="0" sz="2800" spc="12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10" b="1">
                <a:solidFill>
                  <a:srgbClr val="454140"/>
                </a:solidFill>
                <a:latin typeface="Cambria"/>
                <a:cs typeface="Cambria"/>
              </a:rPr>
              <a:t>Platform</a:t>
            </a:r>
            <a:endParaRPr sz="28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509"/>
              </a:spcBef>
            </a:pP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User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opens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Guard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authenticates</a:t>
            </a:r>
            <a:endParaRPr sz="28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065"/>
              </a:spcBef>
            </a:pP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via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login</a:t>
            </a:r>
            <a:r>
              <a:rPr dirty="0" sz="28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or</a:t>
            </a:r>
            <a:r>
              <a:rPr dirty="0" sz="280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454140"/>
                </a:solidFill>
                <a:latin typeface="Tahoma"/>
                <a:cs typeface="Tahoma"/>
              </a:rPr>
              <a:t>demo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mode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885783" y="3121521"/>
            <a:ext cx="1159510" cy="516890"/>
            <a:chOff x="8885783" y="3121521"/>
            <a:chExt cx="1159510" cy="516890"/>
          </a:xfrm>
        </p:grpSpPr>
        <p:sp>
          <p:nvSpPr>
            <p:cNvPr id="10" name="object 10" descr=""/>
            <p:cNvSpPr/>
            <p:nvPr/>
          </p:nvSpPr>
          <p:spPr>
            <a:xfrm>
              <a:off x="9368878" y="3365450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941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69416" y="0"/>
                  </a:lnTo>
                  <a:lnTo>
                    <a:pt x="675798" y="6381"/>
                  </a:lnTo>
                  <a:lnTo>
                    <a:pt x="675798" y="22193"/>
                  </a:lnTo>
                  <a:lnTo>
                    <a:pt x="669416" y="28574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90546" y="3126284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4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885783" y="3121521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0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64415" y="16582"/>
                  </a:lnTo>
                  <a:lnTo>
                    <a:pt x="35837" y="35837"/>
                  </a:lnTo>
                  <a:lnTo>
                    <a:pt x="16582" y="64415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89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5"/>
                  </a:lnTo>
                  <a:lnTo>
                    <a:pt x="480572" y="35837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0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89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89">
                  <a:moveTo>
                    <a:pt x="417063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3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021762" y="3121593"/>
            <a:ext cx="244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20">
                <a:solidFill>
                  <a:srgbClr val="454140"/>
                </a:solidFill>
                <a:latin typeface="Cambria"/>
                <a:cs typeface="Cambria"/>
              </a:rPr>
              <a:t>2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57780" y="3093742"/>
            <a:ext cx="6440805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 spc="215" b="1">
                <a:solidFill>
                  <a:srgbClr val="454140"/>
                </a:solidFill>
                <a:latin typeface="Cambria"/>
                <a:cs typeface="Cambria"/>
              </a:rPr>
              <a:t>Navigate</a:t>
            </a:r>
            <a:r>
              <a:rPr dirty="0" sz="2800" spc="12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35" b="1">
                <a:solidFill>
                  <a:srgbClr val="454140"/>
                </a:solidFill>
                <a:latin typeface="Cambria"/>
                <a:cs typeface="Cambria"/>
              </a:rPr>
              <a:t>to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70" b="1">
                <a:solidFill>
                  <a:srgbClr val="454140"/>
                </a:solidFill>
                <a:latin typeface="Cambria"/>
                <a:cs typeface="Cambria"/>
              </a:rPr>
              <a:t>Analysis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135">
                <a:solidFill>
                  <a:srgbClr val="454140"/>
                </a:solidFill>
                <a:latin typeface="Tahoma"/>
                <a:cs typeface="Tahoma"/>
              </a:rPr>
              <a:t>Opens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the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Analyse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page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the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0">
                <a:solidFill>
                  <a:srgbClr val="454140"/>
                </a:solidFill>
                <a:latin typeface="Tahoma"/>
                <a:cs typeface="Tahoma"/>
              </a:rPr>
              <a:t>main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dashboard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243292" y="4286696"/>
            <a:ext cx="1159510" cy="516890"/>
            <a:chOff x="8243292" y="4286696"/>
            <a:chExt cx="1159510" cy="516890"/>
          </a:xfrm>
        </p:grpSpPr>
        <p:sp>
          <p:nvSpPr>
            <p:cNvPr id="16" name="object 16" descr=""/>
            <p:cNvSpPr/>
            <p:nvPr/>
          </p:nvSpPr>
          <p:spPr>
            <a:xfrm>
              <a:off x="8243292" y="4530626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941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69416" y="0"/>
                  </a:lnTo>
                  <a:lnTo>
                    <a:pt x="675798" y="6381"/>
                  </a:lnTo>
                  <a:lnTo>
                    <a:pt x="675798" y="22193"/>
                  </a:lnTo>
                  <a:lnTo>
                    <a:pt x="669416" y="28574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890545" y="4291458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4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885783" y="4286696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0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64415" y="16582"/>
                  </a:lnTo>
                  <a:lnTo>
                    <a:pt x="35837" y="35837"/>
                  </a:lnTo>
                  <a:lnTo>
                    <a:pt x="16582" y="64415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89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5"/>
                  </a:lnTo>
                  <a:lnTo>
                    <a:pt x="480572" y="35837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0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89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89">
                  <a:moveTo>
                    <a:pt x="417063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3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021762" y="4286767"/>
            <a:ext cx="244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20">
                <a:solidFill>
                  <a:srgbClr val="454140"/>
                </a:solidFill>
                <a:latin typeface="Cambria"/>
                <a:cs typeface="Cambria"/>
              </a:rPr>
              <a:t>3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62446" y="4258919"/>
            <a:ext cx="6868159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799840">
              <a:lnSpc>
                <a:spcPct val="100000"/>
              </a:lnSpc>
              <a:spcBef>
                <a:spcPts val="610"/>
              </a:spcBef>
            </a:pPr>
            <a:r>
              <a:rPr dirty="0" sz="2800" spc="280" b="1">
                <a:solidFill>
                  <a:srgbClr val="454140"/>
                </a:solidFill>
                <a:latin typeface="Cambria"/>
                <a:cs typeface="Cambria"/>
              </a:rPr>
              <a:t>Submit</a:t>
            </a:r>
            <a:r>
              <a:rPr dirty="0" sz="2800" spc="14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95" b="1">
                <a:solidFill>
                  <a:srgbClr val="454140"/>
                </a:solidFill>
                <a:latin typeface="Cambria"/>
                <a:cs typeface="Cambria"/>
              </a:rPr>
              <a:t>Message</a:t>
            </a:r>
            <a:endParaRPr sz="28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509"/>
              </a:spcBef>
            </a:pP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Enters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or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uploads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suspicious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message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25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endParaRPr sz="28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065"/>
              </a:spcBef>
            </a:pPr>
            <a:r>
              <a:rPr dirty="0" sz="2800" spc="40">
                <a:solidFill>
                  <a:srgbClr val="454140"/>
                </a:solidFill>
                <a:latin typeface="Tahoma"/>
                <a:cs typeface="Tahoma"/>
              </a:rPr>
              <a:t>evaluation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885783" y="5451872"/>
            <a:ext cx="1159510" cy="516890"/>
            <a:chOff x="8885783" y="5451872"/>
            <a:chExt cx="1159510" cy="516890"/>
          </a:xfrm>
        </p:grpSpPr>
        <p:sp>
          <p:nvSpPr>
            <p:cNvPr id="22" name="object 22" descr=""/>
            <p:cNvSpPr/>
            <p:nvPr/>
          </p:nvSpPr>
          <p:spPr>
            <a:xfrm>
              <a:off x="9368878" y="5695801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941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69416" y="0"/>
                  </a:lnTo>
                  <a:lnTo>
                    <a:pt x="675798" y="6381"/>
                  </a:lnTo>
                  <a:lnTo>
                    <a:pt x="675798" y="22193"/>
                  </a:lnTo>
                  <a:lnTo>
                    <a:pt x="669416" y="28574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890546" y="5456635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4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85783" y="5451872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89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0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35837" y="35837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89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5"/>
                  </a:lnTo>
                  <a:lnTo>
                    <a:pt x="480572" y="35837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0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89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89">
                  <a:moveTo>
                    <a:pt x="417063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3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027268" y="5451942"/>
            <a:ext cx="2336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5">
                <a:solidFill>
                  <a:srgbClr val="454140"/>
                </a:solidFill>
                <a:latin typeface="Cambria"/>
                <a:cs typeface="Cambria"/>
              </a:rPr>
              <a:t>4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257780" y="5424092"/>
            <a:ext cx="6233160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 spc="325" b="1">
                <a:solidFill>
                  <a:srgbClr val="454140"/>
                </a:solidFill>
                <a:latin typeface="Cambria"/>
                <a:cs typeface="Cambria"/>
              </a:rPr>
              <a:t>AI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60" b="1">
                <a:solidFill>
                  <a:srgbClr val="454140"/>
                </a:solidFill>
                <a:latin typeface="Cambria"/>
                <a:cs typeface="Cambria"/>
              </a:rPr>
              <a:t>Processing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System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analyses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content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using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multi-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layered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detection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algorithms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243292" y="6617047"/>
            <a:ext cx="1159510" cy="516890"/>
            <a:chOff x="8243292" y="6617047"/>
            <a:chExt cx="1159510" cy="516890"/>
          </a:xfrm>
        </p:grpSpPr>
        <p:sp>
          <p:nvSpPr>
            <p:cNvPr id="28" name="object 28" descr=""/>
            <p:cNvSpPr/>
            <p:nvPr/>
          </p:nvSpPr>
          <p:spPr>
            <a:xfrm>
              <a:off x="8243292" y="6860975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941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69416" y="0"/>
                  </a:lnTo>
                  <a:lnTo>
                    <a:pt x="675798" y="6381"/>
                  </a:lnTo>
                  <a:lnTo>
                    <a:pt x="675798" y="22193"/>
                  </a:lnTo>
                  <a:lnTo>
                    <a:pt x="669416" y="28574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890545" y="6621809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5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885783" y="6617047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90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0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64415" y="16582"/>
                  </a:lnTo>
                  <a:lnTo>
                    <a:pt x="35837" y="35838"/>
                  </a:lnTo>
                  <a:lnTo>
                    <a:pt x="16582" y="64416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90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6"/>
                  </a:lnTo>
                  <a:lnTo>
                    <a:pt x="480572" y="35838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0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90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90">
                  <a:moveTo>
                    <a:pt x="417064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4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030294" y="6617119"/>
            <a:ext cx="2279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454140"/>
                </a:solidFill>
                <a:latin typeface="Cambria"/>
                <a:cs typeface="Cambria"/>
              </a:rPr>
              <a:t>5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61591" y="6589268"/>
            <a:ext cx="6569075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653154">
              <a:lnSpc>
                <a:spcPct val="100000"/>
              </a:lnSpc>
              <a:spcBef>
                <a:spcPts val="610"/>
              </a:spcBef>
            </a:pPr>
            <a:r>
              <a:rPr dirty="0" sz="2800" spc="210" b="1">
                <a:solidFill>
                  <a:srgbClr val="454140"/>
                </a:solidFill>
                <a:latin typeface="Cambria"/>
                <a:cs typeface="Cambria"/>
              </a:rPr>
              <a:t>Receive</a:t>
            </a:r>
            <a:r>
              <a:rPr dirty="0" sz="2800" spc="14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40" b="1">
                <a:solidFill>
                  <a:srgbClr val="454140"/>
                </a:solidFill>
                <a:latin typeface="Cambria"/>
                <a:cs typeface="Cambria"/>
              </a:rPr>
              <a:t>Results</a:t>
            </a:r>
            <a:endParaRPr sz="28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509"/>
              </a:spcBef>
            </a:pP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View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classification,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risk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score,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065"/>
              </a:spcBef>
            </a:pP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plain-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language</a:t>
            </a:r>
            <a:r>
              <a:rPr dirty="0" sz="2800" spc="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explanation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8885783" y="7782221"/>
            <a:ext cx="1159510" cy="516890"/>
            <a:chOff x="8885783" y="7782221"/>
            <a:chExt cx="1159510" cy="516890"/>
          </a:xfrm>
        </p:grpSpPr>
        <p:sp>
          <p:nvSpPr>
            <p:cNvPr id="34" name="object 34" descr=""/>
            <p:cNvSpPr/>
            <p:nvPr/>
          </p:nvSpPr>
          <p:spPr>
            <a:xfrm>
              <a:off x="9368878" y="8026152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941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69416" y="0"/>
                  </a:lnTo>
                  <a:lnTo>
                    <a:pt x="675798" y="6381"/>
                  </a:lnTo>
                  <a:lnTo>
                    <a:pt x="675798" y="22193"/>
                  </a:lnTo>
                  <a:lnTo>
                    <a:pt x="669416" y="28574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890546" y="7786984"/>
              <a:ext cx="507365" cy="507365"/>
            </a:xfrm>
            <a:custGeom>
              <a:avLst/>
              <a:gdLst/>
              <a:ahLst/>
              <a:cxnLst/>
              <a:rect l="l" t="t" r="r" b="b"/>
              <a:pathLst>
                <a:path w="507365" h="507365">
                  <a:moveTo>
                    <a:pt x="412241" y="506920"/>
                  </a:moveTo>
                  <a:lnTo>
                    <a:pt x="94678" y="506920"/>
                  </a:lnTo>
                  <a:lnTo>
                    <a:pt x="57824" y="499480"/>
                  </a:lnTo>
                  <a:lnTo>
                    <a:pt x="27729" y="479190"/>
                  </a:lnTo>
                  <a:lnTo>
                    <a:pt x="7439" y="449096"/>
                  </a:lnTo>
                  <a:lnTo>
                    <a:pt x="0" y="412241"/>
                  </a:lnTo>
                  <a:lnTo>
                    <a:pt x="0" y="94678"/>
                  </a:lnTo>
                  <a:lnTo>
                    <a:pt x="7439" y="57824"/>
                  </a:lnTo>
                  <a:lnTo>
                    <a:pt x="27729" y="27729"/>
                  </a:lnTo>
                  <a:lnTo>
                    <a:pt x="57824" y="7439"/>
                  </a:lnTo>
                  <a:lnTo>
                    <a:pt x="94678" y="0"/>
                  </a:lnTo>
                  <a:lnTo>
                    <a:pt x="412241" y="0"/>
                  </a:lnTo>
                  <a:lnTo>
                    <a:pt x="449096" y="7439"/>
                  </a:lnTo>
                  <a:lnTo>
                    <a:pt x="479190" y="27729"/>
                  </a:lnTo>
                  <a:lnTo>
                    <a:pt x="499480" y="57824"/>
                  </a:lnTo>
                  <a:lnTo>
                    <a:pt x="506920" y="94678"/>
                  </a:lnTo>
                  <a:lnTo>
                    <a:pt x="506920" y="412241"/>
                  </a:lnTo>
                  <a:lnTo>
                    <a:pt x="499480" y="449096"/>
                  </a:lnTo>
                  <a:lnTo>
                    <a:pt x="479190" y="479190"/>
                  </a:lnTo>
                  <a:lnTo>
                    <a:pt x="449096" y="499480"/>
                  </a:lnTo>
                  <a:lnTo>
                    <a:pt x="412241" y="506920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885783" y="7782221"/>
              <a:ext cx="516890" cy="516890"/>
            </a:xfrm>
            <a:custGeom>
              <a:avLst/>
              <a:gdLst/>
              <a:ahLst/>
              <a:cxnLst/>
              <a:rect l="l" t="t" r="r" b="b"/>
              <a:pathLst>
                <a:path w="516890" h="516890">
                  <a:moveTo>
                    <a:pt x="99441" y="516433"/>
                  </a:moveTo>
                  <a:lnTo>
                    <a:pt x="60717" y="508636"/>
                  </a:lnTo>
                  <a:lnTo>
                    <a:pt x="29110" y="487334"/>
                  </a:lnTo>
                  <a:lnTo>
                    <a:pt x="7809" y="455728"/>
                  </a:lnTo>
                  <a:lnTo>
                    <a:pt x="0" y="417004"/>
                  </a:lnTo>
                  <a:lnTo>
                    <a:pt x="0" y="99441"/>
                  </a:lnTo>
                  <a:lnTo>
                    <a:pt x="7809" y="60717"/>
                  </a:lnTo>
                  <a:lnTo>
                    <a:pt x="29110" y="29111"/>
                  </a:lnTo>
                  <a:lnTo>
                    <a:pt x="60717" y="7809"/>
                  </a:lnTo>
                  <a:lnTo>
                    <a:pt x="99441" y="0"/>
                  </a:lnTo>
                  <a:lnTo>
                    <a:pt x="417004" y="0"/>
                  </a:lnTo>
                  <a:lnTo>
                    <a:pt x="417004" y="4762"/>
                  </a:lnTo>
                  <a:lnTo>
                    <a:pt x="99441" y="4762"/>
                  </a:lnTo>
                  <a:lnTo>
                    <a:pt x="99441" y="9525"/>
                  </a:lnTo>
                  <a:lnTo>
                    <a:pt x="64415" y="16582"/>
                  </a:lnTo>
                  <a:lnTo>
                    <a:pt x="35837" y="35838"/>
                  </a:lnTo>
                  <a:lnTo>
                    <a:pt x="16582" y="64416"/>
                  </a:lnTo>
                  <a:lnTo>
                    <a:pt x="9525" y="99441"/>
                  </a:lnTo>
                  <a:lnTo>
                    <a:pt x="9525" y="417004"/>
                  </a:lnTo>
                  <a:lnTo>
                    <a:pt x="16609" y="452029"/>
                  </a:lnTo>
                  <a:lnTo>
                    <a:pt x="35890" y="480607"/>
                  </a:lnTo>
                  <a:lnTo>
                    <a:pt x="64482" y="499863"/>
                  </a:lnTo>
                  <a:lnTo>
                    <a:pt x="99441" y="506920"/>
                  </a:lnTo>
                  <a:lnTo>
                    <a:pt x="458251" y="506920"/>
                  </a:lnTo>
                  <a:lnTo>
                    <a:pt x="455661" y="508636"/>
                  </a:lnTo>
                  <a:lnTo>
                    <a:pt x="440580" y="511683"/>
                  </a:lnTo>
                  <a:lnTo>
                    <a:pt x="99441" y="511683"/>
                  </a:lnTo>
                  <a:lnTo>
                    <a:pt x="99441" y="516433"/>
                  </a:lnTo>
                  <a:close/>
                </a:path>
                <a:path w="516890" h="516890">
                  <a:moveTo>
                    <a:pt x="458251" y="506920"/>
                  </a:moveTo>
                  <a:lnTo>
                    <a:pt x="417004" y="506920"/>
                  </a:lnTo>
                  <a:lnTo>
                    <a:pt x="451989" y="499863"/>
                  </a:lnTo>
                  <a:lnTo>
                    <a:pt x="480572" y="480607"/>
                  </a:lnTo>
                  <a:lnTo>
                    <a:pt x="499849" y="452029"/>
                  </a:lnTo>
                  <a:lnTo>
                    <a:pt x="506920" y="417004"/>
                  </a:lnTo>
                  <a:lnTo>
                    <a:pt x="506920" y="99441"/>
                  </a:lnTo>
                  <a:lnTo>
                    <a:pt x="499849" y="64416"/>
                  </a:lnTo>
                  <a:lnTo>
                    <a:pt x="480572" y="35838"/>
                  </a:lnTo>
                  <a:lnTo>
                    <a:pt x="451989" y="16582"/>
                  </a:lnTo>
                  <a:lnTo>
                    <a:pt x="417004" y="9525"/>
                  </a:lnTo>
                  <a:lnTo>
                    <a:pt x="99441" y="9525"/>
                  </a:lnTo>
                  <a:lnTo>
                    <a:pt x="99441" y="4762"/>
                  </a:lnTo>
                  <a:lnTo>
                    <a:pt x="417004" y="4762"/>
                  </a:lnTo>
                  <a:lnTo>
                    <a:pt x="417004" y="0"/>
                  </a:lnTo>
                  <a:lnTo>
                    <a:pt x="455687" y="7809"/>
                  </a:lnTo>
                  <a:lnTo>
                    <a:pt x="487299" y="29111"/>
                  </a:lnTo>
                  <a:lnTo>
                    <a:pt x="508623" y="60717"/>
                  </a:lnTo>
                  <a:lnTo>
                    <a:pt x="516433" y="99441"/>
                  </a:lnTo>
                  <a:lnTo>
                    <a:pt x="516433" y="417004"/>
                  </a:lnTo>
                  <a:lnTo>
                    <a:pt x="509374" y="452029"/>
                  </a:lnTo>
                  <a:lnTo>
                    <a:pt x="508609" y="455728"/>
                  </a:lnTo>
                  <a:lnTo>
                    <a:pt x="487281" y="487334"/>
                  </a:lnTo>
                  <a:lnTo>
                    <a:pt x="458251" y="506920"/>
                  </a:lnTo>
                  <a:close/>
                </a:path>
                <a:path w="516890" h="516890">
                  <a:moveTo>
                    <a:pt x="417004" y="516433"/>
                  </a:moveTo>
                  <a:lnTo>
                    <a:pt x="99441" y="516433"/>
                  </a:lnTo>
                  <a:lnTo>
                    <a:pt x="99441" y="511683"/>
                  </a:lnTo>
                  <a:lnTo>
                    <a:pt x="417004" y="511683"/>
                  </a:lnTo>
                  <a:lnTo>
                    <a:pt x="417004" y="516433"/>
                  </a:lnTo>
                  <a:close/>
                </a:path>
                <a:path w="516890" h="516890">
                  <a:moveTo>
                    <a:pt x="417064" y="516433"/>
                  </a:moveTo>
                  <a:lnTo>
                    <a:pt x="417004" y="511683"/>
                  </a:lnTo>
                  <a:lnTo>
                    <a:pt x="440580" y="511683"/>
                  </a:lnTo>
                  <a:lnTo>
                    <a:pt x="417064" y="516433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016950" y="7782293"/>
            <a:ext cx="2546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95">
                <a:solidFill>
                  <a:srgbClr val="454140"/>
                </a:solidFill>
                <a:latin typeface="Cambria"/>
                <a:cs typeface="Cambria"/>
              </a:rPr>
              <a:t>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257780" y="7754446"/>
            <a:ext cx="7134225" cy="15709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 spc="265" b="1">
                <a:solidFill>
                  <a:srgbClr val="454140"/>
                </a:solidFill>
                <a:latin typeface="Cambria"/>
                <a:cs typeface="Cambria"/>
              </a:rPr>
              <a:t>Auto-</a:t>
            </a:r>
            <a:r>
              <a:rPr dirty="0" sz="2800" spc="225" b="1">
                <a:solidFill>
                  <a:srgbClr val="454140"/>
                </a:solidFill>
                <a:latin typeface="Cambria"/>
                <a:cs typeface="Cambria"/>
              </a:rPr>
              <a:t>Save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415" b="1">
                <a:solidFill>
                  <a:srgbClr val="454140"/>
                </a:solidFill>
                <a:latin typeface="Cambria"/>
                <a:cs typeface="Cambria"/>
              </a:rPr>
              <a:t>&amp;</a:t>
            </a:r>
            <a:r>
              <a:rPr dirty="0" sz="2800" spc="13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45" b="1">
                <a:solidFill>
                  <a:srgbClr val="454140"/>
                </a:solidFill>
                <a:latin typeface="Cambria"/>
                <a:cs typeface="Cambria"/>
              </a:rPr>
              <a:t>Alert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Results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saved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History;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Family</a:t>
            </a:r>
            <a:r>
              <a:rPr dirty="0" sz="280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Dashboard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notified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if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threat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detected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22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dirty="0" spc="484"/>
              <a:t>Technology</a:t>
            </a:r>
            <a:r>
              <a:rPr dirty="0" spc="240"/>
              <a:t> </a:t>
            </a:r>
            <a:r>
              <a:rPr dirty="0" spc="360"/>
              <a:t>Stack</a:t>
            </a:r>
            <a:r>
              <a:rPr dirty="0" spc="240"/>
              <a:t> </a:t>
            </a:r>
            <a:r>
              <a:rPr dirty="0" spc="375"/>
              <a:t>Powering</a:t>
            </a:r>
            <a:r>
              <a:rPr dirty="0" spc="240"/>
              <a:t> </a:t>
            </a:r>
            <a:r>
              <a:rPr dirty="0" spc="305"/>
              <a:t>Protection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72368" y="2126493"/>
            <a:ext cx="8089265" cy="4203065"/>
            <a:chOff x="972368" y="2126493"/>
            <a:chExt cx="8089265" cy="4203065"/>
          </a:xfrm>
        </p:grpSpPr>
        <p:sp>
          <p:nvSpPr>
            <p:cNvPr id="4" name="object 4" descr=""/>
            <p:cNvSpPr/>
            <p:nvPr/>
          </p:nvSpPr>
          <p:spPr>
            <a:xfrm>
              <a:off x="1028687" y="2126500"/>
              <a:ext cx="8032750" cy="833755"/>
            </a:xfrm>
            <a:custGeom>
              <a:avLst/>
              <a:gdLst/>
              <a:ahLst/>
              <a:cxnLst/>
              <a:rect l="l" t="t" r="r" b="b"/>
              <a:pathLst>
                <a:path w="8032750" h="833755">
                  <a:moveTo>
                    <a:pt x="8032534" y="454812"/>
                  </a:moveTo>
                  <a:lnTo>
                    <a:pt x="8026552" y="425145"/>
                  </a:lnTo>
                  <a:lnTo>
                    <a:pt x="8010220" y="400926"/>
                  </a:lnTo>
                  <a:lnTo>
                    <a:pt x="7986001" y="384606"/>
                  </a:lnTo>
                  <a:lnTo>
                    <a:pt x="7956334" y="378612"/>
                  </a:lnTo>
                  <a:lnTo>
                    <a:pt x="4430915" y="378612"/>
                  </a:lnTo>
                  <a:lnTo>
                    <a:pt x="4430319" y="368198"/>
                  </a:lnTo>
                  <a:lnTo>
                    <a:pt x="4422114" y="321233"/>
                  </a:lnTo>
                  <a:lnTo>
                    <a:pt x="4408817" y="276237"/>
                  </a:lnTo>
                  <a:lnTo>
                    <a:pt x="4390758" y="233502"/>
                  </a:lnTo>
                  <a:lnTo>
                    <a:pt x="4368228" y="193357"/>
                  </a:lnTo>
                  <a:lnTo>
                    <a:pt x="4341558" y="156108"/>
                  </a:lnTo>
                  <a:lnTo>
                    <a:pt x="4311040" y="122072"/>
                  </a:lnTo>
                  <a:lnTo>
                    <a:pt x="4277004" y="91567"/>
                  </a:lnTo>
                  <a:lnTo>
                    <a:pt x="4239755" y="64884"/>
                  </a:lnTo>
                  <a:lnTo>
                    <a:pt x="4199610" y="42367"/>
                  </a:lnTo>
                  <a:lnTo>
                    <a:pt x="4156887" y="24295"/>
                  </a:lnTo>
                  <a:lnTo>
                    <a:pt x="4111879" y="11010"/>
                  </a:lnTo>
                  <a:lnTo>
                    <a:pt x="4064914" y="2806"/>
                  </a:lnTo>
                  <a:lnTo>
                    <a:pt x="4016298" y="0"/>
                  </a:lnTo>
                  <a:lnTo>
                    <a:pt x="3967696" y="2806"/>
                  </a:lnTo>
                  <a:lnTo>
                    <a:pt x="3920718" y="11010"/>
                  </a:lnTo>
                  <a:lnTo>
                    <a:pt x="3875722" y="24295"/>
                  </a:lnTo>
                  <a:lnTo>
                    <a:pt x="3832987" y="42367"/>
                  </a:lnTo>
                  <a:lnTo>
                    <a:pt x="3792842" y="64884"/>
                  </a:lnTo>
                  <a:lnTo>
                    <a:pt x="3755593" y="91567"/>
                  </a:lnTo>
                  <a:lnTo>
                    <a:pt x="3721557" y="122072"/>
                  </a:lnTo>
                  <a:lnTo>
                    <a:pt x="3691051" y="156108"/>
                  </a:lnTo>
                  <a:lnTo>
                    <a:pt x="3664381" y="193357"/>
                  </a:lnTo>
                  <a:lnTo>
                    <a:pt x="3641852" y="233502"/>
                  </a:lnTo>
                  <a:lnTo>
                    <a:pt x="3623780" y="276237"/>
                  </a:lnTo>
                  <a:lnTo>
                    <a:pt x="3610495" y="321233"/>
                  </a:lnTo>
                  <a:lnTo>
                    <a:pt x="3602291" y="368198"/>
                  </a:lnTo>
                  <a:lnTo>
                    <a:pt x="3601682" y="378612"/>
                  </a:lnTo>
                  <a:lnTo>
                    <a:pt x="76200" y="378612"/>
                  </a:lnTo>
                  <a:lnTo>
                    <a:pt x="46532" y="384606"/>
                  </a:lnTo>
                  <a:lnTo>
                    <a:pt x="22313" y="400926"/>
                  </a:lnTo>
                  <a:lnTo>
                    <a:pt x="5994" y="425145"/>
                  </a:lnTo>
                  <a:lnTo>
                    <a:pt x="0" y="454812"/>
                  </a:lnTo>
                  <a:lnTo>
                    <a:pt x="5994" y="484479"/>
                  </a:lnTo>
                  <a:lnTo>
                    <a:pt x="22313" y="508711"/>
                  </a:lnTo>
                  <a:lnTo>
                    <a:pt x="46532" y="525030"/>
                  </a:lnTo>
                  <a:lnTo>
                    <a:pt x="76200" y="531012"/>
                  </a:lnTo>
                  <a:lnTo>
                    <a:pt x="3616007" y="531012"/>
                  </a:lnTo>
                  <a:lnTo>
                    <a:pt x="3623818" y="557390"/>
                  </a:lnTo>
                  <a:lnTo>
                    <a:pt x="3641890" y="600125"/>
                  </a:lnTo>
                  <a:lnTo>
                    <a:pt x="3664432" y="640270"/>
                  </a:lnTo>
                  <a:lnTo>
                    <a:pt x="3691115" y="677519"/>
                  </a:lnTo>
                  <a:lnTo>
                    <a:pt x="3721633" y="711555"/>
                  </a:lnTo>
                  <a:lnTo>
                    <a:pt x="3755682" y="742061"/>
                  </a:lnTo>
                  <a:lnTo>
                    <a:pt x="3792931" y="768743"/>
                  </a:lnTo>
                  <a:lnTo>
                    <a:pt x="3833076" y="791260"/>
                  </a:lnTo>
                  <a:lnTo>
                    <a:pt x="3875798" y="809332"/>
                  </a:lnTo>
                  <a:lnTo>
                    <a:pt x="3920782" y="822617"/>
                  </a:lnTo>
                  <a:lnTo>
                    <a:pt x="3967734" y="830821"/>
                  </a:lnTo>
                  <a:lnTo>
                    <a:pt x="4016298" y="833628"/>
                  </a:lnTo>
                  <a:lnTo>
                    <a:pt x="4064901" y="830821"/>
                  </a:lnTo>
                  <a:lnTo>
                    <a:pt x="4111853" y="822617"/>
                  </a:lnTo>
                  <a:lnTo>
                    <a:pt x="4156849" y="809332"/>
                  </a:lnTo>
                  <a:lnTo>
                    <a:pt x="4199572" y="791260"/>
                  </a:lnTo>
                  <a:lnTo>
                    <a:pt x="4239717" y="768743"/>
                  </a:lnTo>
                  <a:lnTo>
                    <a:pt x="4276966" y="742061"/>
                  </a:lnTo>
                  <a:lnTo>
                    <a:pt x="4311002" y="711555"/>
                  </a:lnTo>
                  <a:lnTo>
                    <a:pt x="4341520" y="677519"/>
                  </a:lnTo>
                  <a:lnTo>
                    <a:pt x="4368203" y="640270"/>
                  </a:lnTo>
                  <a:lnTo>
                    <a:pt x="4390733" y="600125"/>
                  </a:lnTo>
                  <a:lnTo>
                    <a:pt x="4408805" y="557390"/>
                  </a:lnTo>
                  <a:lnTo>
                    <a:pt x="4416590" y="531012"/>
                  </a:lnTo>
                  <a:lnTo>
                    <a:pt x="7956334" y="531012"/>
                  </a:lnTo>
                  <a:lnTo>
                    <a:pt x="7986001" y="525030"/>
                  </a:lnTo>
                  <a:lnTo>
                    <a:pt x="8010220" y="508711"/>
                  </a:lnTo>
                  <a:lnTo>
                    <a:pt x="8026552" y="484479"/>
                  </a:lnTo>
                  <a:lnTo>
                    <a:pt x="8032534" y="454812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85503" y="2390510"/>
              <a:ext cx="319405" cy="305435"/>
            </a:xfrm>
            <a:custGeom>
              <a:avLst/>
              <a:gdLst/>
              <a:ahLst/>
              <a:cxnLst/>
              <a:rect l="l" t="t" r="r" b="b"/>
              <a:pathLst>
                <a:path w="319404" h="305435">
                  <a:moveTo>
                    <a:pt x="93231" y="301504"/>
                  </a:moveTo>
                  <a:lnTo>
                    <a:pt x="48454" y="305135"/>
                  </a:lnTo>
                  <a:lnTo>
                    <a:pt x="20957" y="305185"/>
                  </a:lnTo>
                </a:path>
                <a:path w="319404" h="305435">
                  <a:moveTo>
                    <a:pt x="313380" y="93785"/>
                  </a:moveTo>
                  <a:lnTo>
                    <a:pt x="298546" y="99990"/>
                  </a:lnTo>
                  <a:lnTo>
                    <a:pt x="293812" y="100044"/>
                  </a:lnTo>
                </a:path>
                <a:path w="319404" h="305435">
                  <a:moveTo>
                    <a:pt x="93063" y="4188"/>
                  </a:moveTo>
                  <a:lnTo>
                    <a:pt x="47872" y="403"/>
                  </a:lnTo>
                  <a:lnTo>
                    <a:pt x="20957" y="401"/>
                  </a:lnTo>
                </a:path>
                <a:path w="319404" h="305435">
                  <a:moveTo>
                    <a:pt x="269167" y="228958"/>
                  </a:moveTo>
                  <a:lnTo>
                    <a:pt x="252531" y="247049"/>
                  </a:lnTo>
                  <a:lnTo>
                    <a:pt x="252521" y="251378"/>
                  </a:lnTo>
                </a:path>
                <a:path w="319404" h="305435">
                  <a:moveTo>
                    <a:pt x="252596" y="295588"/>
                  </a:moveTo>
                  <a:lnTo>
                    <a:pt x="277042" y="305042"/>
                  </a:lnTo>
                  <a:lnTo>
                    <a:pt x="296517" y="304996"/>
                  </a:lnTo>
                  <a:lnTo>
                    <a:pt x="309210" y="291322"/>
                  </a:lnTo>
                  <a:lnTo>
                    <a:pt x="309339" y="289572"/>
                  </a:lnTo>
                </a:path>
                <a:path w="319404" h="305435">
                  <a:moveTo>
                    <a:pt x="309174" y="242701"/>
                  </a:moveTo>
                  <a:lnTo>
                    <a:pt x="308864" y="240077"/>
                  </a:lnTo>
                  <a:lnTo>
                    <a:pt x="308005" y="237362"/>
                  </a:lnTo>
                  <a:lnTo>
                    <a:pt x="305168" y="232687"/>
                  </a:lnTo>
                </a:path>
                <a:path w="319404" h="305435">
                  <a:moveTo>
                    <a:pt x="506" y="226227"/>
                  </a:moveTo>
                  <a:lnTo>
                    <a:pt x="21829" y="205744"/>
                  </a:lnTo>
                  <a:lnTo>
                    <a:pt x="27900" y="205720"/>
                  </a:lnTo>
                </a:path>
                <a:path w="319404" h="305435">
                  <a:moveTo>
                    <a:pt x="79972" y="205661"/>
                  </a:moveTo>
                  <a:lnTo>
                    <a:pt x="100756" y="227510"/>
                  </a:lnTo>
                  <a:lnTo>
                    <a:pt x="100776" y="232719"/>
                  </a:lnTo>
                </a:path>
                <a:path w="319404" h="305435">
                  <a:moveTo>
                    <a:pt x="100678" y="286095"/>
                  </a:moveTo>
                  <a:lnTo>
                    <a:pt x="100162" y="290038"/>
                  </a:lnTo>
                  <a:lnTo>
                    <a:pt x="99362" y="292729"/>
                  </a:lnTo>
                  <a:lnTo>
                    <a:pt x="97348" y="296809"/>
                  </a:lnTo>
                  <a:lnTo>
                    <a:pt x="94897" y="300307"/>
                  </a:lnTo>
                </a:path>
                <a:path w="319404" h="305435">
                  <a:moveTo>
                    <a:pt x="217837" y="20437"/>
                  </a:moveTo>
                  <a:lnTo>
                    <a:pt x="238702" y="356"/>
                  </a:lnTo>
                  <a:lnTo>
                    <a:pt x="243909" y="282"/>
                  </a:lnTo>
                </a:path>
                <a:path w="319404" h="305435">
                  <a:moveTo>
                    <a:pt x="318273" y="82035"/>
                  </a:moveTo>
                  <a:lnTo>
                    <a:pt x="317731" y="85503"/>
                  </a:lnTo>
                  <a:lnTo>
                    <a:pt x="316648" y="88725"/>
                  </a:lnTo>
                  <a:lnTo>
                    <a:pt x="314315" y="92803"/>
                  </a:lnTo>
                  <a:lnTo>
                    <a:pt x="313380" y="93785"/>
                  </a:lnTo>
                </a:path>
                <a:path w="319404" h="305435">
                  <a:moveTo>
                    <a:pt x="20957" y="401"/>
                  </a:moveTo>
                  <a:lnTo>
                    <a:pt x="525" y="21835"/>
                  </a:lnTo>
                  <a:lnTo>
                    <a:pt x="524" y="27903"/>
                  </a:lnTo>
                </a:path>
                <a:path w="319404" h="305435">
                  <a:moveTo>
                    <a:pt x="79972" y="99938"/>
                  </a:moveTo>
                  <a:lnTo>
                    <a:pt x="100793" y="77803"/>
                  </a:lnTo>
                  <a:lnTo>
                    <a:pt x="100786" y="72598"/>
                  </a:lnTo>
                </a:path>
                <a:path w="319404" h="305435">
                  <a:moveTo>
                    <a:pt x="100732" y="19224"/>
                  </a:moveTo>
                  <a:lnTo>
                    <a:pt x="100223" y="15296"/>
                  </a:lnTo>
                  <a:lnTo>
                    <a:pt x="99382" y="12593"/>
                  </a:lnTo>
                  <a:lnTo>
                    <a:pt x="98062" y="9895"/>
                  </a:lnTo>
                  <a:lnTo>
                    <a:pt x="94719" y="5336"/>
                  </a:lnTo>
                </a:path>
                <a:path w="319404" h="305435">
                  <a:moveTo>
                    <a:pt x="303481" y="231625"/>
                  </a:moveTo>
                  <a:lnTo>
                    <a:pt x="269167" y="228958"/>
                  </a:lnTo>
                </a:path>
                <a:path w="319404" h="305435">
                  <a:moveTo>
                    <a:pt x="303481" y="231625"/>
                  </a:moveTo>
                  <a:lnTo>
                    <a:pt x="305168" y="232687"/>
                  </a:lnTo>
                </a:path>
                <a:path w="319404" h="305435">
                  <a:moveTo>
                    <a:pt x="159505" y="259681"/>
                  </a:moveTo>
                  <a:lnTo>
                    <a:pt x="159586" y="205323"/>
                  </a:lnTo>
                </a:path>
                <a:path w="319404" h="305435">
                  <a:moveTo>
                    <a:pt x="93231" y="301504"/>
                  </a:moveTo>
                  <a:lnTo>
                    <a:pt x="94897" y="300307"/>
                  </a:lnTo>
                </a:path>
                <a:path w="319404" h="305435">
                  <a:moveTo>
                    <a:pt x="93063" y="4188"/>
                  </a:moveTo>
                  <a:lnTo>
                    <a:pt x="94719" y="5336"/>
                  </a:lnTo>
                </a:path>
                <a:path w="319404" h="305435">
                  <a:moveTo>
                    <a:pt x="159003" y="152647"/>
                  </a:moveTo>
                  <a:lnTo>
                    <a:pt x="159703" y="44901"/>
                  </a:lnTo>
                </a:path>
                <a:path w="319404" h="305435">
                  <a:moveTo>
                    <a:pt x="49105" y="152893"/>
                  </a:moveTo>
                  <a:lnTo>
                    <a:pt x="159003" y="152647"/>
                  </a:lnTo>
                </a:path>
                <a:path w="319404" h="305435">
                  <a:moveTo>
                    <a:pt x="270885" y="152894"/>
                  </a:moveTo>
                  <a:lnTo>
                    <a:pt x="222798" y="153090"/>
                  </a:lnTo>
                  <a:lnTo>
                    <a:pt x="222459" y="204426"/>
                  </a:lnTo>
                </a:path>
                <a:path w="319404" h="305435">
                  <a:moveTo>
                    <a:pt x="196717" y="204808"/>
                  </a:moveTo>
                  <a:lnTo>
                    <a:pt x="222459" y="204426"/>
                  </a:lnTo>
                </a:path>
                <a:path w="319404" h="305435">
                  <a:moveTo>
                    <a:pt x="20961" y="305294"/>
                  </a:moveTo>
                  <a:lnTo>
                    <a:pt x="17751" y="305430"/>
                  </a:lnTo>
                  <a:lnTo>
                    <a:pt x="14688" y="304823"/>
                  </a:lnTo>
                  <a:lnTo>
                    <a:pt x="11772" y="303474"/>
                  </a:lnTo>
                  <a:lnTo>
                    <a:pt x="8856" y="302124"/>
                  </a:lnTo>
                  <a:lnTo>
                    <a:pt x="0" y="285945"/>
                  </a:lnTo>
                  <a:lnTo>
                    <a:pt x="164" y="282827"/>
                  </a:lnTo>
                  <a:lnTo>
                    <a:pt x="1086" y="279749"/>
                  </a:lnTo>
                </a:path>
                <a:path w="319404" h="305435">
                  <a:moveTo>
                    <a:pt x="534" y="279584"/>
                  </a:moveTo>
                  <a:lnTo>
                    <a:pt x="506" y="226227"/>
                  </a:lnTo>
                </a:path>
                <a:path w="319404" h="305435">
                  <a:moveTo>
                    <a:pt x="293812" y="100044"/>
                  </a:moveTo>
                  <a:lnTo>
                    <a:pt x="239136" y="100066"/>
                  </a:lnTo>
                </a:path>
                <a:path w="319404" h="305435">
                  <a:moveTo>
                    <a:pt x="27900" y="205720"/>
                  </a:moveTo>
                  <a:lnTo>
                    <a:pt x="79972" y="205661"/>
                  </a:lnTo>
                </a:path>
                <a:path w="319404" h="305435">
                  <a:moveTo>
                    <a:pt x="252521" y="251378"/>
                  </a:moveTo>
                  <a:lnTo>
                    <a:pt x="252596" y="295588"/>
                  </a:lnTo>
                </a:path>
                <a:path w="319404" h="305435">
                  <a:moveTo>
                    <a:pt x="239125" y="99965"/>
                  </a:moveTo>
                  <a:lnTo>
                    <a:pt x="237570" y="100129"/>
                  </a:lnTo>
                  <a:lnTo>
                    <a:pt x="236018" y="100105"/>
                  </a:lnTo>
                  <a:lnTo>
                    <a:pt x="234469" y="99892"/>
                  </a:lnTo>
                  <a:lnTo>
                    <a:pt x="232919" y="99680"/>
                  </a:lnTo>
                  <a:lnTo>
                    <a:pt x="231418" y="99285"/>
                  </a:lnTo>
                  <a:lnTo>
                    <a:pt x="229965" y="98708"/>
                  </a:lnTo>
                  <a:lnTo>
                    <a:pt x="228511" y="98131"/>
                  </a:lnTo>
                  <a:lnTo>
                    <a:pt x="222438" y="93338"/>
                  </a:lnTo>
                  <a:lnTo>
                    <a:pt x="221419" y="92151"/>
                  </a:lnTo>
                  <a:lnTo>
                    <a:pt x="218268" y="85085"/>
                  </a:lnTo>
                  <a:lnTo>
                    <a:pt x="217918" y="83561"/>
                  </a:lnTo>
                  <a:lnTo>
                    <a:pt x="217755" y="82017"/>
                  </a:lnTo>
                  <a:lnTo>
                    <a:pt x="217779" y="80453"/>
                  </a:lnTo>
                  <a:lnTo>
                    <a:pt x="217803" y="78890"/>
                  </a:lnTo>
                  <a:lnTo>
                    <a:pt x="218014" y="77352"/>
                  </a:lnTo>
                  <a:lnTo>
                    <a:pt x="218412" y="75839"/>
                  </a:lnTo>
                </a:path>
                <a:path w="319404" h="305435">
                  <a:moveTo>
                    <a:pt x="309339" y="289572"/>
                  </a:moveTo>
                  <a:lnTo>
                    <a:pt x="309174" y="242701"/>
                  </a:lnTo>
                </a:path>
                <a:path w="319404" h="305435">
                  <a:moveTo>
                    <a:pt x="217975" y="75724"/>
                  </a:moveTo>
                  <a:lnTo>
                    <a:pt x="217837" y="20437"/>
                  </a:lnTo>
                </a:path>
                <a:path w="319404" h="305435">
                  <a:moveTo>
                    <a:pt x="243909" y="282"/>
                  </a:moveTo>
                  <a:lnTo>
                    <a:pt x="298330" y="182"/>
                  </a:lnTo>
                </a:path>
                <a:path w="319404" h="305435">
                  <a:moveTo>
                    <a:pt x="298327" y="101"/>
                  </a:moveTo>
                  <a:lnTo>
                    <a:pt x="318787" y="19160"/>
                  </a:lnTo>
                  <a:lnTo>
                    <a:pt x="318631" y="22213"/>
                  </a:lnTo>
                  <a:lnTo>
                    <a:pt x="317739" y="25228"/>
                  </a:lnTo>
                </a:path>
                <a:path w="319404" h="305435">
                  <a:moveTo>
                    <a:pt x="100776" y="232719"/>
                  </a:moveTo>
                  <a:lnTo>
                    <a:pt x="100678" y="286095"/>
                  </a:lnTo>
                </a:path>
                <a:path w="319404" h="305435">
                  <a:moveTo>
                    <a:pt x="524" y="27903"/>
                  </a:moveTo>
                  <a:lnTo>
                    <a:pt x="522" y="79957"/>
                  </a:lnTo>
                  <a:lnTo>
                    <a:pt x="2207" y="88993"/>
                  </a:lnTo>
                  <a:lnTo>
                    <a:pt x="8858" y="96015"/>
                  </a:lnTo>
                  <a:lnTo>
                    <a:pt x="17860" y="99993"/>
                  </a:lnTo>
                  <a:lnTo>
                    <a:pt x="26598" y="99893"/>
                  </a:lnTo>
                </a:path>
                <a:path w="319404" h="305435">
                  <a:moveTo>
                    <a:pt x="318282" y="25388"/>
                  </a:moveTo>
                  <a:lnTo>
                    <a:pt x="318273" y="82035"/>
                  </a:lnTo>
                </a:path>
                <a:path w="319404" h="305435">
                  <a:moveTo>
                    <a:pt x="26598" y="99893"/>
                  </a:moveTo>
                  <a:lnTo>
                    <a:pt x="79972" y="99938"/>
                  </a:lnTo>
                </a:path>
                <a:path w="319404" h="305435">
                  <a:moveTo>
                    <a:pt x="100786" y="72598"/>
                  </a:moveTo>
                  <a:lnTo>
                    <a:pt x="100732" y="19224"/>
                  </a:lnTo>
                </a:path>
              </a:pathLst>
            </a:custGeom>
            <a:ln w="14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2368" y="2960079"/>
              <a:ext cx="8032750" cy="3369310"/>
            </a:xfrm>
            <a:custGeom>
              <a:avLst/>
              <a:gdLst/>
              <a:ahLst/>
              <a:cxnLst/>
              <a:rect l="l" t="t" r="r" b="b"/>
              <a:pathLst>
                <a:path w="8032750" h="3369310">
                  <a:moveTo>
                    <a:pt x="7851720" y="3369103"/>
                  </a:moveTo>
                  <a:lnTo>
                    <a:pt x="180807" y="3369103"/>
                  </a:lnTo>
                  <a:lnTo>
                    <a:pt x="140958" y="3364130"/>
                  </a:lnTo>
                  <a:lnTo>
                    <a:pt x="102470" y="3349228"/>
                  </a:lnTo>
                  <a:lnTo>
                    <a:pt x="68513" y="3325847"/>
                  </a:lnTo>
                  <a:lnTo>
                    <a:pt x="40188" y="3295177"/>
                  </a:lnTo>
                  <a:lnTo>
                    <a:pt x="18594" y="3258409"/>
                  </a:lnTo>
                  <a:lnTo>
                    <a:pt x="4831" y="3216734"/>
                  </a:lnTo>
                  <a:lnTo>
                    <a:pt x="0" y="3171343"/>
                  </a:lnTo>
                  <a:lnTo>
                    <a:pt x="0" y="198022"/>
                  </a:lnTo>
                  <a:lnTo>
                    <a:pt x="4831" y="152630"/>
                  </a:lnTo>
                  <a:lnTo>
                    <a:pt x="18594" y="110954"/>
                  </a:lnTo>
                  <a:lnTo>
                    <a:pt x="40188" y="74186"/>
                  </a:lnTo>
                  <a:lnTo>
                    <a:pt x="68513" y="43515"/>
                  </a:lnTo>
                  <a:lnTo>
                    <a:pt x="102470" y="20134"/>
                  </a:lnTo>
                  <a:lnTo>
                    <a:pt x="140958" y="5232"/>
                  </a:lnTo>
                  <a:lnTo>
                    <a:pt x="182880" y="0"/>
                  </a:lnTo>
                  <a:lnTo>
                    <a:pt x="7849647" y="0"/>
                  </a:lnTo>
                  <a:lnTo>
                    <a:pt x="7891568" y="5232"/>
                  </a:lnTo>
                  <a:lnTo>
                    <a:pt x="7930057" y="20134"/>
                  </a:lnTo>
                  <a:lnTo>
                    <a:pt x="7964014" y="43515"/>
                  </a:lnTo>
                  <a:lnTo>
                    <a:pt x="7992339" y="74186"/>
                  </a:lnTo>
                  <a:lnTo>
                    <a:pt x="8013933" y="110954"/>
                  </a:lnTo>
                  <a:lnTo>
                    <a:pt x="8027696" y="152630"/>
                  </a:lnTo>
                  <a:lnTo>
                    <a:pt x="8032551" y="198022"/>
                  </a:lnTo>
                  <a:lnTo>
                    <a:pt x="8032551" y="3171343"/>
                  </a:lnTo>
                  <a:lnTo>
                    <a:pt x="8027696" y="3216734"/>
                  </a:lnTo>
                  <a:lnTo>
                    <a:pt x="8013933" y="3258409"/>
                  </a:lnTo>
                  <a:lnTo>
                    <a:pt x="7992339" y="3295177"/>
                  </a:lnTo>
                  <a:lnTo>
                    <a:pt x="7964014" y="3325847"/>
                  </a:lnTo>
                  <a:lnTo>
                    <a:pt x="7930057" y="3349228"/>
                  </a:lnTo>
                  <a:lnTo>
                    <a:pt x="7891568" y="3364130"/>
                  </a:lnTo>
                  <a:lnTo>
                    <a:pt x="7851720" y="3369103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75630" y="3195372"/>
            <a:ext cx="7374255" cy="2799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 b="1">
                <a:solidFill>
                  <a:srgbClr val="454140"/>
                </a:solidFill>
                <a:latin typeface="Cambria"/>
                <a:cs typeface="Cambria"/>
              </a:rPr>
              <a:t>Frontend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0"/>
              </a:spcBef>
            </a:pP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Technologies:</a:t>
            </a:r>
            <a:r>
              <a:rPr dirty="0" sz="2800" spc="-1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-30">
                <a:solidFill>
                  <a:srgbClr val="454140"/>
                </a:solidFill>
                <a:latin typeface="Tahoma"/>
                <a:cs typeface="Tahoma"/>
              </a:rPr>
              <a:t>HTML,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CSS,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JavaScript,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React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2035"/>
              </a:spcBef>
            </a:pPr>
            <a:r>
              <a:rPr dirty="0" sz="3000" spc="50">
                <a:solidFill>
                  <a:srgbClr val="454140"/>
                </a:solidFill>
                <a:latin typeface="Tahoma"/>
                <a:cs typeface="Tahoma"/>
              </a:rPr>
              <a:t>Responsive,</a:t>
            </a:r>
            <a:r>
              <a:rPr dirty="0" sz="30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454140"/>
                </a:solidFill>
                <a:latin typeface="Tahoma"/>
                <a:cs typeface="Tahoma"/>
              </a:rPr>
              <a:t>accessible</a:t>
            </a:r>
            <a:r>
              <a:rPr dirty="0" sz="30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90">
                <a:solidFill>
                  <a:srgbClr val="454140"/>
                </a:solidFill>
                <a:latin typeface="Tahoma"/>
                <a:cs typeface="Tahoma"/>
              </a:rPr>
              <a:t>design</a:t>
            </a:r>
            <a:r>
              <a:rPr dirty="0" sz="30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30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454140"/>
                </a:solidFill>
                <a:latin typeface="Tahoma"/>
                <a:cs typeface="Tahoma"/>
              </a:rPr>
              <a:t>pastel </a:t>
            </a:r>
            <a:r>
              <a:rPr dirty="0" sz="3000" spc="70">
                <a:solidFill>
                  <a:srgbClr val="454140"/>
                </a:solidFill>
                <a:latin typeface="Tahoma"/>
                <a:cs typeface="Tahoma"/>
              </a:rPr>
              <a:t>theming</a:t>
            </a:r>
            <a:r>
              <a:rPr dirty="0" sz="30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135">
                <a:solidFill>
                  <a:srgbClr val="454140"/>
                </a:solidFill>
                <a:latin typeface="Tahoma"/>
                <a:cs typeface="Tahoma"/>
              </a:rPr>
              <a:t>optimised</a:t>
            </a:r>
            <a:r>
              <a:rPr dirty="0" sz="30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30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80">
                <a:solidFill>
                  <a:srgbClr val="454140"/>
                </a:solidFill>
                <a:latin typeface="Tahoma"/>
                <a:cs typeface="Tahoma"/>
              </a:rPr>
              <a:t>senior</a:t>
            </a:r>
            <a:r>
              <a:rPr dirty="0" sz="30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3000" spc="75">
                <a:solidFill>
                  <a:srgbClr val="454140"/>
                </a:solidFill>
                <a:latin typeface="Tahoma"/>
                <a:cs typeface="Tahoma"/>
              </a:rPr>
              <a:t>users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449392" y="2126493"/>
            <a:ext cx="8032750" cy="833755"/>
            <a:chOff x="9449392" y="2126493"/>
            <a:chExt cx="8032750" cy="833755"/>
          </a:xfrm>
        </p:grpSpPr>
        <p:sp>
          <p:nvSpPr>
            <p:cNvPr id="9" name="object 9" descr=""/>
            <p:cNvSpPr/>
            <p:nvPr/>
          </p:nvSpPr>
          <p:spPr>
            <a:xfrm>
              <a:off x="9449384" y="2126500"/>
              <a:ext cx="8032750" cy="833755"/>
            </a:xfrm>
            <a:custGeom>
              <a:avLst/>
              <a:gdLst/>
              <a:ahLst/>
              <a:cxnLst/>
              <a:rect l="l" t="t" r="r" b="b"/>
              <a:pathLst>
                <a:path w="8032750" h="833755">
                  <a:moveTo>
                    <a:pt x="8032559" y="453986"/>
                  </a:moveTo>
                  <a:lnTo>
                    <a:pt x="8026730" y="425145"/>
                  </a:lnTo>
                  <a:lnTo>
                    <a:pt x="8010411" y="400926"/>
                  </a:lnTo>
                  <a:lnTo>
                    <a:pt x="7986192" y="384606"/>
                  </a:lnTo>
                  <a:lnTo>
                    <a:pt x="7956524" y="378612"/>
                  </a:lnTo>
                  <a:lnTo>
                    <a:pt x="4430903" y="378612"/>
                  </a:lnTo>
                  <a:lnTo>
                    <a:pt x="4430306" y="368198"/>
                  </a:lnTo>
                  <a:lnTo>
                    <a:pt x="4422102" y="321233"/>
                  </a:lnTo>
                  <a:lnTo>
                    <a:pt x="4408817" y="276237"/>
                  </a:lnTo>
                  <a:lnTo>
                    <a:pt x="4390758" y="233502"/>
                  </a:lnTo>
                  <a:lnTo>
                    <a:pt x="4368228" y="193357"/>
                  </a:lnTo>
                  <a:lnTo>
                    <a:pt x="4341546" y="156108"/>
                  </a:lnTo>
                  <a:lnTo>
                    <a:pt x="4311040" y="122072"/>
                  </a:lnTo>
                  <a:lnTo>
                    <a:pt x="4277004" y="91567"/>
                  </a:lnTo>
                  <a:lnTo>
                    <a:pt x="4239755" y="64884"/>
                  </a:lnTo>
                  <a:lnTo>
                    <a:pt x="4199610" y="42367"/>
                  </a:lnTo>
                  <a:lnTo>
                    <a:pt x="4156887" y="24295"/>
                  </a:lnTo>
                  <a:lnTo>
                    <a:pt x="4111879" y="11010"/>
                  </a:lnTo>
                  <a:lnTo>
                    <a:pt x="4064914" y="2806"/>
                  </a:lnTo>
                  <a:lnTo>
                    <a:pt x="4016298" y="0"/>
                  </a:lnTo>
                  <a:lnTo>
                    <a:pt x="3967683" y="2806"/>
                  </a:lnTo>
                  <a:lnTo>
                    <a:pt x="3920718" y="11010"/>
                  </a:lnTo>
                  <a:lnTo>
                    <a:pt x="3875722" y="24295"/>
                  </a:lnTo>
                  <a:lnTo>
                    <a:pt x="3832987" y="42367"/>
                  </a:lnTo>
                  <a:lnTo>
                    <a:pt x="3792842" y="64884"/>
                  </a:lnTo>
                  <a:lnTo>
                    <a:pt x="3755593" y="91567"/>
                  </a:lnTo>
                  <a:lnTo>
                    <a:pt x="3721557" y="122072"/>
                  </a:lnTo>
                  <a:lnTo>
                    <a:pt x="3691051" y="156108"/>
                  </a:lnTo>
                  <a:lnTo>
                    <a:pt x="3664369" y="193357"/>
                  </a:lnTo>
                  <a:lnTo>
                    <a:pt x="3641852" y="233502"/>
                  </a:lnTo>
                  <a:lnTo>
                    <a:pt x="3623780" y="276237"/>
                  </a:lnTo>
                  <a:lnTo>
                    <a:pt x="3610495" y="321233"/>
                  </a:lnTo>
                  <a:lnTo>
                    <a:pt x="3602291" y="368198"/>
                  </a:lnTo>
                  <a:lnTo>
                    <a:pt x="3601682" y="378612"/>
                  </a:lnTo>
                  <a:lnTo>
                    <a:pt x="76200" y="378612"/>
                  </a:lnTo>
                  <a:lnTo>
                    <a:pt x="46532" y="384606"/>
                  </a:lnTo>
                  <a:lnTo>
                    <a:pt x="22313" y="400926"/>
                  </a:lnTo>
                  <a:lnTo>
                    <a:pt x="5994" y="425145"/>
                  </a:lnTo>
                  <a:lnTo>
                    <a:pt x="0" y="454812"/>
                  </a:lnTo>
                  <a:lnTo>
                    <a:pt x="5994" y="484479"/>
                  </a:lnTo>
                  <a:lnTo>
                    <a:pt x="22313" y="508711"/>
                  </a:lnTo>
                  <a:lnTo>
                    <a:pt x="46532" y="525030"/>
                  </a:lnTo>
                  <a:lnTo>
                    <a:pt x="76200" y="531012"/>
                  </a:lnTo>
                  <a:lnTo>
                    <a:pt x="3616007" y="531012"/>
                  </a:lnTo>
                  <a:lnTo>
                    <a:pt x="3623805" y="557390"/>
                  </a:lnTo>
                  <a:lnTo>
                    <a:pt x="3641890" y="600125"/>
                  </a:lnTo>
                  <a:lnTo>
                    <a:pt x="3664432" y="640270"/>
                  </a:lnTo>
                  <a:lnTo>
                    <a:pt x="3691115" y="677519"/>
                  </a:lnTo>
                  <a:lnTo>
                    <a:pt x="3721633" y="711555"/>
                  </a:lnTo>
                  <a:lnTo>
                    <a:pt x="3755682" y="742061"/>
                  </a:lnTo>
                  <a:lnTo>
                    <a:pt x="3792931" y="768743"/>
                  </a:lnTo>
                  <a:lnTo>
                    <a:pt x="3833063" y="791260"/>
                  </a:lnTo>
                  <a:lnTo>
                    <a:pt x="3875786" y="809332"/>
                  </a:lnTo>
                  <a:lnTo>
                    <a:pt x="3920782" y="822617"/>
                  </a:lnTo>
                  <a:lnTo>
                    <a:pt x="3967734" y="830821"/>
                  </a:lnTo>
                  <a:lnTo>
                    <a:pt x="4016298" y="833628"/>
                  </a:lnTo>
                  <a:lnTo>
                    <a:pt x="4064901" y="830821"/>
                  </a:lnTo>
                  <a:lnTo>
                    <a:pt x="4111853" y="822617"/>
                  </a:lnTo>
                  <a:lnTo>
                    <a:pt x="4156849" y="809332"/>
                  </a:lnTo>
                  <a:lnTo>
                    <a:pt x="4199572" y="791260"/>
                  </a:lnTo>
                  <a:lnTo>
                    <a:pt x="4239717" y="768743"/>
                  </a:lnTo>
                  <a:lnTo>
                    <a:pt x="4276966" y="742061"/>
                  </a:lnTo>
                  <a:lnTo>
                    <a:pt x="4311002" y="711555"/>
                  </a:lnTo>
                  <a:lnTo>
                    <a:pt x="4341520" y="677519"/>
                  </a:lnTo>
                  <a:lnTo>
                    <a:pt x="4368203" y="640270"/>
                  </a:lnTo>
                  <a:lnTo>
                    <a:pt x="4390733" y="600125"/>
                  </a:lnTo>
                  <a:lnTo>
                    <a:pt x="4408805" y="557390"/>
                  </a:lnTo>
                  <a:lnTo>
                    <a:pt x="4416590" y="531012"/>
                  </a:lnTo>
                  <a:lnTo>
                    <a:pt x="7956524" y="531012"/>
                  </a:lnTo>
                  <a:lnTo>
                    <a:pt x="7986192" y="525030"/>
                  </a:lnTo>
                  <a:lnTo>
                    <a:pt x="8010411" y="508711"/>
                  </a:lnTo>
                  <a:lnTo>
                    <a:pt x="8026730" y="484479"/>
                  </a:lnTo>
                  <a:lnTo>
                    <a:pt x="8032559" y="455650"/>
                  </a:lnTo>
                  <a:lnTo>
                    <a:pt x="8032559" y="45398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301831" y="2391039"/>
              <a:ext cx="327660" cy="304800"/>
            </a:xfrm>
            <a:custGeom>
              <a:avLst/>
              <a:gdLst/>
              <a:ahLst/>
              <a:cxnLst/>
              <a:rect l="l" t="t" r="r" b="b"/>
              <a:pathLst>
                <a:path w="327659" h="304800">
                  <a:moveTo>
                    <a:pt x="322815" y="111111"/>
                  </a:moveTo>
                  <a:lnTo>
                    <a:pt x="325991" y="116808"/>
                  </a:lnTo>
                  <a:lnTo>
                    <a:pt x="326969" y="119526"/>
                  </a:lnTo>
                  <a:lnTo>
                    <a:pt x="327237" y="121115"/>
                  </a:lnTo>
                  <a:lnTo>
                    <a:pt x="327373" y="160555"/>
                  </a:lnTo>
                </a:path>
                <a:path w="327659" h="304800">
                  <a:moveTo>
                    <a:pt x="327352" y="207890"/>
                  </a:moveTo>
                  <a:lnTo>
                    <a:pt x="298528" y="220620"/>
                  </a:lnTo>
                  <a:lnTo>
                    <a:pt x="285808" y="220738"/>
                  </a:lnTo>
                </a:path>
                <a:path w="327659" h="304800">
                  <a:moveTo>
                    <a:pt x="170140" y="220768"/>
                  </a:moveTo>
                  <a:lnTo>
                    <a:pt x="113853" y="220735"/>
                  </a:lnTo>
                </a:path>
                <a:path w="327659" h="304800">
                  <a:moveTo>
                    <a:pt x="14474" y="220755"/>
                  </a:moveTo>
                  <a:lnTo>
                    <a:pt x="306" y="179717"/>
                  </a:lnTo>
                  <a:lnTo>
                    <a:pt x="68" y="123802"/>
                  </a:lnTo>
                  <a:lnTo>
                    <a:pt x="371" y="120702"/>
                  </a:lnTo>
                  <a:lnTo>
                    <a:pt x="1238" y="117695"/>
                  </a:lnTo>
                  <a:lnTo>
                    <a:pt x="5148" y="110464"/>
                  </a:lnTo>
                </a:path>
                <a:path w="327659" h="304800">
                  <a:moveTo>
                    <a:pt x="322190" y="109990"/>
                  </a:moveTo>
                  <a:lnTo>
                    <a:pt x="326157" y="103864"/>
                  </a:lnTo>
                  <a:lnTo>
                    <a:pt x="327227" y="100630"/>
                  </a:lnTo>
                  <a:lnTo>
                    <a:pt x="327516" y="97452"/>
                  </a:lnTo>
                  <a:lnTo>
                    <a:pt x="327491" y="53227"/>
                  </a:lnTo>
                  <a:lnTo>
                    <a:pt x="326957" y="12682"/>
                  </a:lnTo>
                  <a:lnTo>
                    <a:pt x="315739" y="263"/>
                  </a:lnTo>
                  <a:lnTo>
                    <a:pt x="303161" y="0"/>
                  </a:lnTo>
                </a:path>
                <a:path w="327659" h="304800">
                  <a:moveTo>
                    <a:pt x="34975" y="2"/>
                  </a:moveTo>
                  <a:lnTo>
                    <a:pt x="1159" y="6451"/>
                  </a:lnTo>
                  <a:lnTo>
                    <a:pt x="89" y="10052"/>
                  </a:lnTo>
                </a:path>
                <a:path w="327659" h="304800">
                  <a:moveTo>
                    <a:pt x="0" y="98736"/>
                  </a:moveTo>
                  <a:lnTo>
                    <a:pt x="208" y="100797"/>
                  </a:lnTo>
                  <a:lnTo>
                    <a:pt x="832" y="103123"/>
                  </a:lnTo>
                  <a:lnTo>
                    <a:pt x="1808" y="105205"/>
                  </a:lnTo>
                  <a:lnTo>
                    <a:pt x="5148" y="110464"/>
                  </a:lnTo>
                </a:path>
                <a:path w="327659" h="304800">
                  <a:moveTo>
                    <a:pt x="321498" y="111012"/>
                  </a:moveTo>
                  <a:lnTo>
                    <a:pt x="5148" y="110464"/>
                  </a:lnTo>
                </a:path>
                <a:path w="327659" h="304800">
                  <a:moveTo>
                    <a:pt x="163829" y="304289"/>
                  </a:moveTo>
                  <a:lnTo>
                    <a:pt x="163644" y="220719"/>
                  </a:lnTo>
                </a:path>
                <a:path w="327659" h="304800">
                  <a:moveTo>
                    <a:pt x="60671" y="304345"/>
                  </a:moveTo>
                  <a:lnTo>
                    <a:pt x="266421" y="304301"/>
                  </a:lnTo>
                </a:path>
                <a:path w="327659" h="304800">
                  <a:moveTo>
                    <a:pt x="327373" y="160555"/>
                  </a:moveTo>
                  <a:lnTo>
                    <a:pt x="327352" y="207890"/>
                  </a:lnTo>
                </a:path>
                <a:path w="327659" h="304800">
                  <a:moveTo>
                    <a:pt x="73869" y="55226"/>
                  </a:moveTo>
                  <a:lnTo>
                    <a:pt x="59687" y="69408"/>
                  </a:lnTo>
                  <a:lnTo>
                    <a:pt x="57806" y="69408"/>
                  </a:lnTo>
                  <a:lnTo>
                    <a:pt x="45504" y="57107"/>
                  </a:lnTo>
                  <a:lnTo>
                    <a:pt x="45504" y="55226"/>
                  </a:lnTo>
                  <a:lnTo>
                    <a:pt x="45504" y="53346"/>
                  </a:lnTo>
                  <a:lnTo>
                    <a:pt x="45864" y="51537"/>
                  </a:lnTo>
                  <a:lnTo>
                    <a:pt x="46584" y="49799"/>
                  </a:lnTo>
                  <a:lnTo>
                    <a:pt x="47304" y="48062"/>
                  </a:lnTo>
                  <a:lnTo>
                    <a:pt x="48328" y="46528"/>
                  </a:lnTo>
                  <a:lnTo>
                    <a:pt x="49658" y="45198"/>
                  </a:lnTo>
                  <a:lnTo>
                    <a:pt x="50988" y="43868"/>
                  </a:lnTo>
                  <a:lnTo>
                    <a:pt x="52522" y="42843"/>
                  </a:lnTo>
                  <a:lnTo>
                    <a:pt x="54259" y="42124"/>
                  </a:lnTo>
                  <a:lnTo>
                    <a:pt x="55997" y="41404"/>
                  </a:lnTo>
                  <a:lnTo>
                    <a:pt x="57806" y="41044"/>
                  </a:lnTo>
                  <a:lnTo>
                    <a:pt x="59687" y="41044"/>
                  </a:lnTo>
                  <a:lnTo>
                    <a:pt x="61567" y="41044"/>
                  </a:lnTo>
                  <a:lnTo>
                    <a:pt x="63376" y="41404"/>
                  </a:lnTo>
                  <a:lnTo>
                    <a:pt x="65114" y="42124"/>
                  </a:lnTo>
                  <a:lnTo>
                    <a:pt x="66851" y="42843"/>
                  </a:lnTo>
                  <a:lnTo>
                    <a:pt x="68385" y="43868"/>
                  </a:lnTo>
                  <a:lnTo>
                    <a:pt x="69715" y="45198"/>
                  </a:lnTo>
                  <a:lnTo>
                    <a:pt x="71045" y="46528"/>
                  </a:lnTo>
                  <a:lnTo>
                    <a:pt x="72069" y="48062"/>
                  </a:lnTo>
                  <a:lnTo>
                    <a:pt x="72789" y="49799"/>
                  </a:lnTo>
                  <a:lnTo>
                    <a:pt x="73509" y="51537"/>
                  </a:lnTo>
                  <a:lnTo>
                    <a:pt x="73869" y="53346"/>
                  </a:lnTo>
                  <a:lnTo>
                    <a:pt x="73869" y="55226"/>
                  </a:lnTo>
                  <a:close/>
                </a:path>
                <a:path w="327659" h="304800">
                  <a:moveTo>
                    <a:pt x="67767" y="66899"/>
                  </a:moveTo>
                  <a:lnTo>
                    <a:pt x="69898" y="65667"/>
                  </a:lnTo>
                </a:path>
                <a:path w="327659" h="304800">
                  <a:moveTo>
                    <a:pt x="285808" y="220738"/>
                  </a:moveTo>
                  <a:lnTo>
                    <a:pt x="170140" y="220768"/>
                  </a:lnTo>
                </a:path>
                <a:path w="327659" h="304800">
                  <a:moveTo>
                    <a:pt x="215890" y="54866"/>
                  </a:moveTo>
                  <a:lnTo>
                    <a:pt x="284735" y="54862"/>
                  </a:lnTo>
                </a:path>
                <a:path w="327659" h="304800">
                  <a:moveTo>
                    <a:pt x="74165" y="165670"/>
                  </a:moveTo>
                  <a:lnTo>
                    <a:pt x="74165" y="167594"/>
                  </a:lnTo>
                  <a:lnTo>
                    <a:pt x="73797" y="169444"/>
                  </a:lnTo>
                  <a:lnTo>
                    <a:pt x="73061" y="171221"/>
                  </a:lnTo>
                  <a:lnTo>
                    <a:pt x="72325" y="172998"/>
                  </a:lnTo>
                  <a:lnTo>
                    <a:pt x="71277" y="174567"/>
                  </a:lnTo>
                  <a:lnTo>
                    <a:pt x="69917" y="175927"/>
                  </a:lnTo>
                  <a:lnTo>
                    <a:pt x="68556" y="177287"/>
                  </a:lnTo>
                  <a:lnTo>
                    <a:pt x="66988" y="178335"/>
                  </a:lnTo>
                  <a:lnTo>
                    <a:pt x="65211" y="179071"/>
                  </a:lnTo>
                  <a:lnTo>
                    <a:pt x="63434" y="179807"/>
                  </a:lnTo>
                  <a:lnTo>
                    <a:pt x="61583" y="180175"/>
                  </a:lnTo>
                  <a:lnTo>
                    <a:pt x="59660" y="180175"/>
                  </a:lnTo>
                  <a:lnTo>
                    <a:pt x="57736" y="180175"/>
                  </a:lnTo>
                  <a:lnTo>
                    <a:pt x="55886" y="179807"/>
                  </a:lnTo>
                  <a:lnTo>
                    <a:pt x="54109" y="179071"/>
                  </a:lnTo>
                  <a:lnTo>
                    <a:pt x="52332" y="178335"/>
                  </a:lnTo>
                  <a:lnTo>
                    <a:pt x="50763" y="177287"/>
                  </a:lnTo>
                  <a:lnTo>
                    <a:pt x="49403" y="175927"/>
                  </a:lnTo>
                  <a:lnTo>
                    <a:pt x="48043" y="174567"/>
                  </a:lnTo>
                  <a:lnTo>
                    <a:pt x="46995" y="172998"/>
                  </a:lnTo>
                  <a:lnTo>
                    <a:pt x="46259" y="171221"/>
                  </a:lnTo>
                  <a:lnTo>
                    <a:pt x="45522" y="169444"/>
                  </a:lnTo>
                  <a:lnTo>
                    <a:pt x="45154" y="167594"/>
                  </a:lnTo>
                  <a:lnTo>
                    <a:pt x="45154" y="165670"/>
                  </a:lnTo>
                  <a:lnTo>
                    <a:pt x="45154" y="163746"/>
                  </a:lnTo>
                  <a:lnTo>
                    <a:pt x="54109" y="152269"/>
                  </a:lnTo>
                  <a:lnTo>
                    <a:pt x="55886" y="151533"/>
                  </a:lnTo>
                  <a:lnTo>
                    <a:pt x="57736" y="151165"/>
                  </a:lnTo>
                  <a:lnTo>
                    <a:pt x="59660" y="151165"/>
                  </a:lnTo>
                  <a:lnTo>
                    <a:pt x="61583" y="151165"/>
                  </a:lnTo>
                  <a:lnTo>
                    <a:pt x="63434" y="151533"/>
                  </a:lnTo>
                  <a:lnTo>
                    <a:pt x="65211" y="152269"/>
                  </a:lnTo>
                  <a:lnTo>
                    <a:pt x="66988" y="153005"/>
                  </a:lnTo>
                  <a:lnTo>
                    <a:pt x="73061" y="160119"/>
                  </a:lnTo>
                  <a:lnTo>
                    <a:pt x="73797" y="161896"/>
                  </a:lnTo>
                  <a:lnTo>
                    <a:pt x="74165" y="163746"/>
                  </a:lnTo>
                  <a:lnTo>
                    <a:pt x="74165" y="165670"/>
                  </a:lnTo>
                  <a:close/>
                </a:path>
                <a:path w="327659" h="304800">
                  <a:moveTo>
                    <a:pt x="113853" y="220735"/>
                  </a:moveTo>
                  <a:lnTo>
                    <a:pt x="14474" y="220755"/>
                  </a:lnTo>
                </a:path>
                <a:path w="327659" h="304800">
                  <a:moveTo>
                    <a:pt x="71193" y="174630"/>
                  </a:moveTo>
                  <a:lnTo>
                    <a:pt x="72281" y="173388"/>
                  </a:lnTo>
                </a:path>
                <a:path w="327659" h="304800">
                  <a:moveTo>
                    <a:pt x="214896" y="164821"/>
                  </a:moveTo>
                  <a:lnTo>
                    <a:pt x="283775" y="165302"/>
                  </a:lnTo>
                </a:path>
                <a:path w="327659" h="304800">
                  <a:moveTo>
                    <a:pt x="303161" y="0"/>
                  </a:moveTo>
                  <a:lnTo>
                    <a:pt x="34975" y="2"/>
                  </a:lnTo>
                </a:path>
                <a:path w="327659" h="304800">
                  <a:moveTo>
                    <a:pt x="89" y="10052"/>
                  </a:moveTo>
                  <a:lnTo>
                    <a:pt x="0" y="98736"/>
                  </a:lnTo>
                </a:path>
              </a:pathLst>
            </a:custGeom>
            <a:ln w="14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9282855" y="3096974"/>
            <a:ext cx="8032750" cy="3216910"/>
          </a:xfrm>
          <a:custGeom>
            <a:avLst/>
            <a:gdLst/>
            <a:ahLst/>
            <a:cxnLst/>
            <a:rect l="l" t="t" r="r" b="b"/>
            <a:pathLst>
              <a:path w="8032750" h="3216910">
                <a:moveTo>
                  <a:pt x="7862643" y="3216887"/>
                </a:moveTo>
                <a:lnTo>
                  <a:pt x="170076" y="3216887"/>
                </a:lnTo>
                <a:lnTo>
                  <a:pt x="134276" y="3211908"/>
                </a:lnTo>
                <a:lnTo>
                  <a:pt x="90593" y="3192833"/>
                </a:lnTo>
                <a:lnTo>
                  <a:pt x="53578" y="3163248"/>
                </a:lnTo>
                <a:lnTo>
                  <a:pt x="24976" y="3124961"/>
                </a:lnTo>
                <a:lnTo>
                  <a:pt x="6535" y="3079777"/>
                </a:lnTo>
                <a:lnTo>
                  <a:pt x="0" y="3029502"/>
                </a:lnTo>
                <a:lnTo>
                  <a:pt x="0" y="189165"/>
                </a:lnTo>
                <a:lnTo>
                  <a:pt x="6535" y="138891"/>
                </a:lnTo>
                <a:lnTo>
                  <a:pt x="24976" y="93707"/>
                </a:lnTo>
                <a:lnTo>
                  <a:pt x="53578" y="55419"/>
                </a:lnTo>
                <a:lnTo>
                  <a:pt x="90593" y="25835"/>
                </a:lnTo>
                <a:lnTo>
                  <a:pt x="134276" y="6759"/>
                </a:lnTo>
                <a:lnTo>
                  <a:pt x="182880" y="0"/>
                </a:lnTo>
                <a:lnTo>
                  <a:pt x="7849839" y="0"/>
                </a:lnTo>
                <a:lnTo>
                  <a:pt x="7898443" y="6759"/>
                </a:lnTo>
                <a:lnTo>
                  <a:pt x="7942126" y="25835"/>
                </a:lnTo>
                <a:lnTo>
                  <a:pt x="7979141" y="55419"/>
                </a:lnTo>
                <a:lnTo>
                  <a:pt x="8007742" y="93707"/>
                </a:lnTo>
                <a:lnTo>
                  <a:pt x="8026184" y="138891"/>
                </a:lnTo>
                <a:lnTo>
                  <a:pt x="8032700" y="189165"/>
                </a:lnTo>
                <a:lnTo>
                  <a:pt x="8032700" y="3029502"/>
                </a:lnTo>
                <a:lnTo>
                  <a:pt x="8026184" y="3079777"/>
                </a:lnTo>
                <a:lnTo>
                  <a:pt x="8007742" y="3124961"/>
                </a:lnTo>
                <a:lnTo>
                  <a:pt x="7979141" y="3163248"/>
                </a:lnTo>
                <a:lnTo>
                  <a:pt x="7942126" y="3192833"/>
                </a:lnTo>
                <a:lnTo>
                  <a:pt x="7898443" y="3211908"/>
                </a:lnTo>
                <a:lnTo>
                  <a:pt x="7862643" y="3216887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586118" y="3266661"/>
            <a:ext cx="6466205" cy="272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50" b="1">
                <a:solidFill>
                  <a:srgbClr val="454140"/>
                </a:solidFill>
                <a:latin typeface="Cambria"/>
                <a:cs typeface="Cambria"/>
              </a:rPr>
              <a:t>Backend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0"/>
              </a:spcBef>
            </a:pPr>
            <a:r>
              <a:rPr dirty="0" sz="2800" spc="-10" b="1">
                <a:solidFill>
                  <a:srgbClr val="454140"/>
                </a:solidFill>
                <a:latin typeface="Trebuchet MS"/>
                <a:cs typeface="Trebuchet MS"/>
              </a:rPr>
              <a:t>Framework:</a:t>
            </a:r>
            <a:r>
              <a:rPr dirty="0" sz="2800" spc="-6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Python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Flask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/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Node.js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31700"/>
              </a:lnSpc>
              <a:spcBef>
                <a:spcPts val="2205"/>
              </a:spcBef>
            </a:pP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Robust</a:t>
            </a:r>
            <a:r>
              <a:rPr dirty="0" sz="28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50">
                <a:solidFill>
                  <a:srgbClr val="454140"/>
                </a:solidFill>
                <a:latin typeface="Tahoma"/>
                <a:cs typeface="Tahoma"/>
              </a:rPr>
              <a:t>API</a:t>
            </a:r>
            <a:r>
              <a:rPr dirty="0" sz="28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structure</a:t>
            </a:r>
            <a:r>
              <a:rPr dirty="0" sz="28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handling</a:t>
            </a:r>
            <a:r>
              <a:rPr dirty="0" sz="28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message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processing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user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management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28699" y="5994424"/>
            <a:ext cx="8032750" cy="833755"/>
            <a:chOff x="1028699" y="5994424"/>
            <a:chExt cx="8032750" cy="833755"/>
          </a:xfrm>
        </p:grpSpPr>
        <p:sp>
          <p:nvSpPr>
            <p:cNvPr id="14" name="object 14" descr=""/>
            <p:cNvSpPr/>
            <p:nvPr/>
          </p:nvSpPr>
          <p:spPr>
            <a:xfrm>
              <a:off x="1028687" y="5994425"/>
              <a:ext cx="8032750" cy="833755"/>
            </a:xfrm>
            <a:custGeom>
              <a:avLst/>
              <a:gdLst/>
              <a:ahLst/>
              <a:cxnLst/>
              <a:rect l="l" t="t" r="r" b="b"/>
              <a:pathLst>
                <a:path w="8032750" h="833754">
                  <a:moveTo>
                    <a:pt x="8032534" y="454825"/>
                  </a:moveTo>
                  <a:lnTo>
                    <a:pt x="8026552" y="425157"/>
                  </a:lnTo>
                  <a:lnTo>
                    <a:pt x="8010220" y="400939"/>
                  </a:lnTo>
                  <a:lnTo>
                    <a:pt x="7986001" y="384606"/>
                  </a:lnTo>
                  <a:lnTo>
                    <a:pt x="7956334" y="378625"/>
                  </a:lnTo>
                  <a:lnTo>
                    <a:pt x="4430915" y="378625"/>
                  </a:lnTo>
                  <a:lnTo>
                    <a:pt x="4430319" y="368211"/>
                  </a:lnTo>
                  <a:lnTo>
                    <a:pt x="4422114" y="321246"/>
                  </a:lnTo>
                  <a:lnTo>
                    <a:pt x="4408817" y="276237"/>
                  </a:lnTo>
                  <a:lnTo>
                    <a:pt x="4390758" y="233502"/>
                  </a:lnTo>
                  <a:lnTo>
                    <a:pt x="4368228" y="193357"/>
                  </a:lnTo>
                  <a:lnTo>
                    <a:pt x="4341558" y="156121"/>
                  </a:lnTo>
                  <a:lnTo>
                    <a:pt x="4311040" y="122085"/>
                  </a:lnTo>
                  <a:lnTo>
                    <a:pt x="4277004" y="91567"/>
                  </a:lnTo>
                  <a:lnTo>
                    <a:pt x="4239755" y="64897"/>
                  </a:lnTo>
                  <a:lnTo>
                    <a:pt x="4199610" y="42367"/>
                  </a:lnTo>
                  <a:lnTo>
                    <a:pt x="4156887" y="24307"/>
                  </a:lnTo>
                  <a:lnTo>
                    <a:pt x="4111879" y="11010"/>
                  </a:lnTo>
                  <a:lnTo>
                    <a:pt x="4064914" y="2806"/>
                  </a:lnTo>
                  <a:lnTo>
                    <a:pt x="4016298" y="0"/>
                  </a:lnTo>
                  <a:lnTo>
                    <a:pt x="3967696" y="2806"/>
                  </a:lnTo>
                  <a:lnTo>
                    <a:pt x="3920718" y="11010"/>
                  </a:lnTo>
                  <a:lnTo>
                    <a:pt x="3875722" y="24307"/>
                  </a:lnTo>
                  <a:lnTo>
                    <a:pt x="3832987" y="42367"/>
                  </a:lnTo>
                  <a:lnTo>
                    <a:pt x="3792842" y="64897"/>
                  </a:lnTo>
                  <a:lnTo>
                    <a:pt x="3755593" y="91567"/>
                  </a:lnTo>
                  <a:lnTo>
                    <a:pt x="3721557" y="122085"/>
                  </a:lnTo>
                  <a:lnTo>
                    <a:pt x="3691051" y="156121"/>
                  </a:lnTo>
                  <a:lnTo>
                    <a:pt x="3664381" y="193357"/>
                  </a:lnTo>
                  <a:lnTo>
                    <a:pt x="3641852" y="233502"/>
                  </a:lnTo>
                  <a:lnTo>
                    <a:pt x="3623780" y="276237"/>
                  </a:lnTo>
                  <a:lnTo>
                    <a:pt x="3610495" y="321246"/>
                  </a:lnTo>
                  <a:lnTo>
                    <a:pt x="3602291" y="368211"/>
                  </a:lnTo>
                  <a:lnTo>
                    <a:pt x="3601682" y="378625"/>
                  </a:lnTo>
                  <a:lnTo>
                    <a:pt x="76200" y="378625"/>
                  </a:lnTo>
                  <a:lnTo>
                    <a:pt x="46532" y="384606"/>
                  </a:lnTo>
                  <a:lnTo>
                    <a:pt x="22313" y="400939"/>
                  </a:lnTo>
                  <a:lnTo>
                    <a:pt x="5994" y="425157"/>
                  </a:lnTo>
                  <a:lnTo>
                    <a:pt x="0" y="454825"/>
                  </a:lnTo>
                  <a:lnTo>
                    <a:pt x="5994" y="484492"/>
                  </a:lnTo>
                  <a:lnTo>
                    <a:pt x="22313" y="508711"/>
                  </a:lnTo>
                  <a:lnTo>
                    <a:pt x="46532" y="525043"/>
                  </a:lnTo>
                  <a:lnTo>
                    <a:pt x="76200" y="531025"/>
                  </a:lnTo>
                  <a:lnTo>
                    <a:pt x="3616007" y="531025"/>
                  </a:lnTo>
                  <a:lnTo>
                    <a:pt x="3623818" y="557403"/>
                  </a:lnTo>
                  <a:lnTo>
                    <a:pt x="3641890" y="600125"/>
                  </a:lnTo>
                  <a:lnTo>
                    <a:pt x="3664432" y="640270"/>
                  </a:lnTo>
                  <a:lnTo>
                    <a:pt x="3691115" y="677519"/>
                  </a:lnTo>
                  <a:lnTo>
                    <a:pt x="3721633" y="711555"/>
                  </a:lnTo>
                  <a:lnTo>
                    <a:pt x="3755682" y="742073"/>
                  </a:lnTo>
                  <a:lnTo>
                    <a:pt x="3792931" y="768743"/>
                  </a:lnTo>
                  <a:lnTo>
                    <a:pt x="3833076" y="791273"/>
                  </a:lnTo>
                  <a:lnTo>
                    <a:pt x="3875798" y="809332"/>
                  </a:lnTo>
                  <a:lnTo>
                    <a:pt x="3920782" y="822629"/>
                  </a:lnTo>
                  <a:lnTo>
                    <a:pt x="3967734" y="830834"/>
                  </a:lnTo>
                  <a:lnTo>
                    <a:pt x="4016298" y="833628"/>
                  </a:lnTo>
                  <a:lnTo>
                    <a:pt x="4064901" y="830834"/>
                  </a:lnTo>
                  <a:lnTo>
                    <a:pt x="4111853" y="822629"/>
                  </a:lnTo>
                  <a:lnTo>
                    <a:pt x="4156849" y="809332"/>
                  </a:lnTo>
                  <a:lnTo>
                    <a:pt x="4199572" y="791273"/>
                  </a:lnTo>
                  <a:lnTo>
                    <a:pt x="4239717" y="768743"/>
                  </a:lnTo>
                  <a:lnTo>
                    <a:pt x="4276966" y="742073"/>
                  </a:lnTo>
                  <a:lnTo>
                    <a:pt x="4311002" y="711555"/>
                  </a:lnTo>
                  <a:lnTo>
                    <a:pt x="4341520" y="677519"/>
                  </a:lnTo>
                  <a:lnTo>
                    <a:pt x="4368203" y="640270"/>
                  </a:lnTo>
                  <a:lnTo>
                    <a:pt x="4390733" y="600125"/>
                  </a:lnTo>
                  <a:lnTo>
                    <a:pt x="4408805" y="557403"/>
                  </a:lnTo>
                  <a:lnTo>
                    <a:pt x="4416590" y="531025"/>
                  </a:lnTo>
                  <a:lnTo>
                    <a:pt x="7956334" y="531025"/>
                  </a:lnTo>
                  <a:lnTo>
                    <a:pt x="7986001" y="525043"/>
                  </a:lnTo>
                  <a:lnTo>
                    <a:pt x="8010220" y="508711"/>
                  </a:lnTo>
                  <a:lnTo>
                    <a:pt x="8026552" y="484492"/>
                  </a:lnTo>
                  <a:lnTo>
                    <a:pt x="8032534" y="454825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2795" y="6251330"/>
              <a:ext cx="324179" cy="31970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944565" y="6287905"/>
              <a:ext cx="100330" cy="242570"/>
            </a:xfrm>
            <a:custGeom>
              <a:avLst/>
              <a:gdLst/>
              <a:ahLst/>
              <a:cxnLst/>
              <a:rect l="l" t="t" r="r" b="b"/>
              <a:pathLst>
                <a:path w="100329" h="242570">
                  <a:moveTo>
                    <a:pt x="100201" y="0"/>
                  </a:moveTo>
                  <a:lnTo>
                    <a:pt x="99935" y="242139"/>
                  </a:lnTo>
                </a:path>
                <a:path w="100329" h="242570">
                  <a:moveTo>
                    <a:pt x="0" y="233224"/>
                  </a:moveTo>
                  <a:lnTo>
                    <a:pt x="9278" y="218704"/>
                  </a:lnTo>
                  <a:lnTo>
                    <a:pt x="20181" y="205746"/>
                  </a:lnTo>
                  <a:lnTo>
                    <a:pt x="32706" y="194349"/>
                  </a:lnTo>
                  <a:lnTo>
                    <a:pt x="46855" y="184514"/>
                  </a:lnTo>
                </a:path>
              </a:pathLst>
            </a:custGeom>
            <a:ln w="13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2565" y="6300591"/>
              <a:ext cx="101415" cy="117352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1102127" y="10248758"/>
            <a:ext cx="7886065" cy="38735"/>
          </a:xfrm>
          <a:custGeom>
            <a:avLst/>
            <a:gdLst/>
            <a:ahLst/>
            <a:cxnLst/>
            <a:rect l="l" t="t" r="r" b="b"/>
            <a:pathLst>
              <a:path w="7886065" h="38734">
                <a:moveTo>
                  <a:pt x="7885671" y="38240"/>
                </a:moveTo>
                <a:lnTo>
                  <a:pt x="0" y="38240"/>
                </a:lnTo>
                <a:lnTo>
                  <a:pt x="17165" y="24976"/>
                </a:lnTo>
                <a:lnTo>
                  <a:pt x="60848" y="6535"/>
                </a:lnTo>
                <a:lnTo>
                  <a:pt x="109452" y="0"/>
                </a:lnTo>
                <a:lnTo>
                  <a:pt x="7776220" y="0"/>
                </a:lnTo>
                <a:lnTo>
                  <a:pt x="7824823" y="6535"/>
                </a:lnTo>
                <a:lnTo>
                  <a:pt x="7868506" y="24976"/>
                </a:lnTo>
                <a:lnTo>
                  <a:pt x="7885671" y="3824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16000" y="7036004"/>
            <a:ext cx="6953250" cy="29813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sz="2650" spc="330" b="1">
                <a:solidFill>
                  <a:srgbClr val="454140"/>
                </a:solidFill>
                <a:latin typeface="Cambria"/>
                <a:cs typeface="Cambria"/>
              </a:rPr>
              <a:t>AI</a:t>
            </a:r>
            <a:r>
              <a:rPr dirty="0" sz="265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650" spc="430" b="1">
                <a:solidFill>
                  <a:srgbClr val="454140"/>
                </a:solidFill>
                <a:latin typeface="Cambria"/>
                <a:cs typeface="Cambria"/>
              </a:rPr>
              <a:t>&amp;</a:t>
            </a:r>
            <a:r>
              <a:rPr dirty="0" sz="2650" spc="13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650" spc="490" b="1">
                <a:solidFill>
                  <a:srgbClr val="454140"/>
                </a:solidFill>
                <a:latin typeface="Cambria"/>
                <a:cs typeface="Cambria"/>
              </a:rPr>
              <a:t>NLP</a:t>
            </a:r>
            <a:endParaRPr sz="2650">
              <a:latin typeface="Cambria"/>
              <a:cs typeface="Cambria"/>
            </a:endParaRPr>
          </a:p>
          <a:p>
            <a:pPr marL="12700" marR="356235">
              <a:lnSpc>
                <a:spcPct val="131700"/>
              </a:lnSpc>
              <a:spcBef>
                <a:spcPts val="1675"/>
              </a:spcBef>
            </a:pPr>
            <a:r>
              <a:rPr dirty="0" sz="2800" spc="-10" b="1">
                <a:solidFill>
                  <a:srgbClr val="454140"/>
                </a:solidFill>
                <a:latin typeface="Trebuchet MS"/>
                <a:cs typeface="Trebuchet MS"/>
              </a:rPr>
              <a:t>Engine:</a:t>
            </a:r>
            <a:r>
              <a:rPr dirty="0" sz="2800" spc="-11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GPT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integration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rule-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based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analysis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31700"/>
              </a:lnSpc>
              <a:spcBef>
                <a:spcPts val="680"/>
              </a:spcBef>
            </a:pP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Keyword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vector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454140"/>
                </a:solidFill>
                <a:latin typeface="Tahoma"/>
                <a:cs typeface="Tahoma"/>
              </a:rPr>
              <a:t>checks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sophisticated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pattern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recognition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226599" y="6900494"/>
            <a:ext cx="8031480" cy="3112135"/>
          </a:xfrm>
          <a:custGeom>
            <a:avLst/>
            <a:gdLst/>
            <a:ahLst/>
            <a:cxnLst/>
            <a:rect l="l" t="t" r="r" b="b"/>
            <a:pathLst>
              <a:path w="8031480" h="3112134">
                <a:moveTo>
                  <a:pt x="7849837" y="3111698"/>
                </a:moveTo>
                <a:lnTo>
                  <a:pt x="182880" y="3111698"/>
                </a:lnTo>
                <a:lnTo>
                  <a:pt x="134276" y="3105187"/>
                </a:lnTo>
                <a:lnTo>
                  <a:pt x="90593" y="3086745"/>
                </a:lnTo>
                <a:lnTo>
                  <a:pt x="53578" y="3058144"/>
                </a:lnTo>
                <a:lnTo>
                  <a:pt x="24976" y="3021128"/>
                </a:lnTo>
                <a:lnTo>
                  <a:pt x="6535" y="2977446"/>
                </a:lnTo>
                <a:lnTo>
                  <a:pt x="0" y="2928842"/>
                </a:lnTo>
                <a:lnTo>
                  <a:pt x="0" y="182880"/>
                </a:lnTo>
                <a:lnTo>
                  <a:pt x="6535" y="134276"/>
                </a:lnTo>
                <a:lnTo>
                  <a:pt x="24976" y="90593"/>
                </a:lnTo>
                <a:lnTo>
                  <a:pt x="53578" y="53578"/>
                </a:lnTo>
                <a:lnTo>
                  <a:pt x="90593" y="24976"/>
                </a:lnTo>
                <a:lnTo>
                  <a:pt x="134276" y="6535"/>
                </a:lnTo>
                <a:lnTo>
                  <a:pt x="182880" y="0"/>
                </a:lnTo>
                <a:lnTo>
                  <a:pt x="7849837" y="0"/>
                </a:lnTo>
                <a:lnTo>
                  <a:pt x="7898441" y="6535"/>
                </a:lnTo>
                <a:lnTo>
                  <a:pt x="7942124" y="24976"/>
                </a:lnTo>
                <a:lnTo>
                  <a:pt x="7979139" y="53578"/>
                </a:lnTo>
                <a:lnTo>
                  <a:pt x="8007741" y="90593"/>
                </a:lnTo>
                <a:lnTo>
                  <a:pt x="8026182" y="134276"/>
                </a:lnTo>
                <a:lnTo>
                  <a:pt x="8031417" y="173209"/>
                </a:lnTo>
                <a:lnTo>
                  <a:pt x="8031417" y="2938512"/>
                </a:lnTo>
                <a:lnTo>
                  <a:pt x="8026182" y="2977446"/>
                </a:lnTo>
                <a:lnTo>
                  <a:pt x="8007741" y="3021128"/>
                </a:lnTo>
                <a:lnTo>
                  <a:pt x="7979139" y="3058144"/>
                </a:lnTo>
                <a:lnTo>
                  <a:pt x="7942124" y="3086745"/>
                </a:lnTo>
                <a:lnTo>
                  <a:pt x="7898441" y="3105187"/>
                </a:lnTo>
                <a:lnTo>
                  <a:pt x="7849837" y="3111698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9282855" y="5994498"/>
            <a:ext cx="8032750" cy="833755"/>
            <a:chOff x="9282855" y="5994498"/>
            <a:chExt cx="8032750" cy="833755"/>
          </a:xfrm>
        </p:grpSpPr>
        <p:sp>
          <p:nvSpPr>
            <p:cNvPr id="22" name="object 22" descr=""/>
            <p:cNvSpPr/>
            <p:nvPr/>
          </p:nvSpPr>
          <p:spPr>
            <a:xfrm>
              <a:off x="9282849" y="5994501"/>
              <a:ext cx="8032750" cy="833755"/>
            </a:xfrm>
            <a:custGeom>
              <a:avLst/>
              <a:gdLst/>
              <a:ahLst/>
              <a:cxnLst/>
              <a:rect l="l" t="t" r="r" b="b"/>
              <a:pathLst>
                <a:path w="8032750" h="833754">
                  <a:moveTo>
                    <a:pt x="8032547" y="453986"/>
                  </a:moveTo>
                  <a:lnTo>
                    <a:pt x="8026730" y="425157"/>
                  </a:lnTo>
                  <a:lnTo>
                    <a:pt x="8010411" y="400939"/>
                  </a:lnTo>
                  <a:lnTo>
                    <a:pt x="7986192" y="384606"/>
                  </a:lnTo>
                  <a:lnTo>
                    <a:pt x="7956512" y="378625"/>
                  </a:lnTo>
                  <a:lnTo>
                    <a:pt x="4430903" y="378625"/>
                  </a:lnTo>
                  <a:lnTo>
                    <a:pt x="4430306" y="368198"/>
                  </a:lnTo>
                  <a:lnTo>
                    <a:pt x="4422102" y="321233"/>
                  </a:lnTo>
                  <a:lnTo>
                    <a:pt x="4408817" y="276237"/>
                  </a:lnTo>
                  <a:lnTo>
                    <a:pt x="4390745" y="233502"/>
                  </a:lnTo>
                  <a:lnTo>
                    <a:pt x="4368228" y="193357"/>
                  </a:lnTo>
                  <a:lnTo>
                    <a:pt x="4341546" y="156108"/>
                  </a:lnTo>
                  <a:lnTo>
                    <a:pt x="4311040" y="122072"/>
                  </a:lnTo>
                  <a:lnTo>
                    <a:pt x="4277004" y="91567"/>
                  </a:lnTo>
                  <a:lnTo>
                    <a:pt x="4239755" y="64897"/>
                  </a:lnTo>
                  <a:lnTo>
                    <a:pt x="4199610" y="42367"/>
                  </a:lnTo>
                  <a:lnTo>
                    <a:pt x="4156875" y="24295"/>
                  </a:lnTo>
                  <a:lnTo>
                    <a:pt x="4111879" y="11010"/>
                  </a:lnTo>
                  <a:lnTo>
                    <a:pt x="4064914" y="2806"/>
                  </a:lnTo>
                  <a:lnTo>
                    <a:pt x="4016298" y="0"/>
                  </a:lnTo>
                  <a:lnTo>
                    <a:pt x="3967683" y="2806"/>
                  </a:lnTo>
                  <a:lnTo>
                    <a:pt x="3920718" y="11010"/>
                  </a:lnTo>
                  <a:lnTo>
                    <a:pt x="3875722" y="24295"/>
                  </a:lnTo>
                  <a:lnTo>
                    <a:pt x="3832987" y="42367"/>
                  </a:lnTo>
                  <a:lnTo>
                    <a:pt x="3792842" y="64897"/>
                  </a:lnTo>
                  <a:lnTo>
                    <a:pt x="3755593" y="91567"/>
                  </a:lnTo>
                  <a:lnTo>
                    <a:pt x="3721557" y="122072"/>
                  </a:lnTo>
                  <a:lnTo>
                    <a:pt x="3691051" y="156108"/>
                  </a:lnTo>
                  <a:lnTo>
                    <a:pt x="3664369" y="193357"/>
                  </a:lnTo>
                  <a:lnTo>
                    <a:pt x="3641852" y="233502"/>
                  </a:lnTo>
                  <a:lnTo>
                    <a:pt x="3623780" y="276237"/>
                  </a:lnTo>
                  <a:lnTo>
                    <a:pt x="3610495" y="321233"/>
                  </a:lnTo>
                  <a:lnTo>
                    <a:pt x="3602291" y="368198"/>
                  </a:lnTo>
                  <a:lnTo>
                    <a:pt x="3601682" y="378625"/>
                  </a:lnTo>
                  <a:lnTo>
                    <a:pt x="76200" y="378625"/>
                  </a:lnTo>
                  <a:lnTo>
                    <a:pt x="46532" y="384606"/>
                  </a:lnTo>
                  <a:lnTo>
                    <a:pt x="22313" y="400939"/>
                  </a:lnTo>
                  <a:lnTo>
                    <a:pt x="5981" y="425157"/>
                  </a:lnTo>
                  <a:lnTo>
                    <a:pt x="0" y="454825"/>
                  </a:lnTo>
                  <a:lnTo>
                    <a:pt x="5981" y="484492"/>
                  </a:lnTo>
                  <a:lnTo>
                    <a:pt x="22313" y="508711"/>
                  </a:lnTo>
                  <a:lnTo>
                    <a:pt x="46532" y="525030"/>
                  </a:lnTo>
                  <a:lnTo>
                    <a:pt x="76200" y="531025"/>
                  </a:lnTo>
                  <a:lnTo>
                    <a:pt x="3616007" y="531025"/>
                  </a:lnTo>
                  <a:lnTo>
                    <a:pt x="3623805" y="557403"/>
                  </a:lnTo>
                  <a:lnTo>
                    <a:pt x="3641890" y="600125"/>
                  </a:lnTo>
                  <a:lnTo>
                    <a:pt x="3664420" y="640270"/>
                  </a:lnTo>
                  <a:lnTo>
                    <a:pt x="3691115" y="677519"/>
                  </a:lnTo>
                  <a:lnTo>
                    <a:pt x="3721633" y="711555"/>
                  </a:lnTo>
                  <a:lnTo>
                    <a:pt x="3755682" y="742073"/>
                  </a:lnTo>
                  <a:lnTo>
                    <a:pt x="3792918" y="768743"/>
                  </a:lnTo>
                  <a:lnTo>
                    <a:pt x="3833063" y="791273"/>
                  </a:lnTo>
                  <a:lnTo>
                    <a:pt x="3875786" y="809332"/>
                  </a:lnTo>
                  <a:lnTo>
                    <a:pt x="3920782" y="822629"/>
                  </a:lnTo>
                  <a:lnTo>
                    <a:pt x="3967721" y="830821"/>
                  </a:lnTo>
                  <a:lnTo>
                    <a:pt x="4016298" y="833628"/>
                  </a:lnTo>
                  <a:lnTo>
                    <a:pt x="4064889" y="830821"/>
                  </a:lnTo>
                  <a:lnTo>
                    <a:pt x="4111841" y="822629"/>
                  </a:lnTo>
                  <a:lnTo>
                    <a:pt x="4156837" y="809332"/>
                  </a:lnTo>
                  <a:lnTo>
                    <a:pt x="4199572" y="791273"/>
                  </a:lnTo>
                  <a:lnTo>
                    <a:pt x="4239717" y="768743"/>
                  </a:lnTo>
                  <a:lnTo>
                    <a:pt x="4276966" y="742073"/>
                  </a:lnTo>
                  <a:lnTo>
                    <a:pt x="4311002" y="711555"/>
                  </a:lnTo>
                  <a:lnTo>
                    <a:pt x="4341520" y="677519"/>
                  </a:lnTo>
                  <a:lnTo>
                    <a:pt x="4368203" y="640270"/>
                  </a:lnTo>
                  <a:lnTo>
                    <a:pt x="4390733" y="600125"/>
                  </a:lnTo>
                  <a:lnTo>
                    <a:pt x="4408805" y="557403"/>
                  </a:lnTo>
                  <a:lnTo>
                    <a:pt x="4416590" y="531025"/>
                  </a:lnTo>
                  <a:lnTo>
                    <a:pt x="7956512" y="531025"/>
                  </a:lnTo>
                  <a:lnTo>
                    <a:pt x="7986192" y="525030"/>
                  </a:lnTo>
                  <a:lnTo>
                    <a:pt x="8010411" y="508711"/>
                  </a:lnTo>
                  <a:lnTo>
                    <a:pt x="8026730" y="484492"/>
                  </a:lnTo>
                  <a:lnTo>
                    <a:pt x="8032547" y="455650"/>
                  </a:lnTo>
                  <a:lnTo>
                    <a:pt x="8032547" y="45398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0191" y="6236708"/>
              <a:ext cx="317732" cy="349017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9585969" y="7066142"/>
            <a:ext cx="6733540" cy="2939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220" b="1">
                <a:solidFill>
                  <a:srgbClr val="454140"/>
                </a:solidFill>
                <a:latin typeface="Cambria"/>
                <a:cs typeface="Cambria"/>
              </a:rPr>
              <a:t>Data</a:t>
            </a:r>
            <a:r>
              <a:rPr dirty="0" sz="2650" spc="14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650" spc="180" b="1">
                <a:solidFill>
                  <a:srgbClr val="454140"/>
                </a:solidFill>
                <a:latin typeface="Cambria"/>
                <a:cs typeface="Cambria"/>
              </a:rPr>
              <a:t>Storage</a:t>
            </a:r>
            <a:endParaRPr sz="2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Solution:</a:t>
            </a:r>
            <a:r>
              <a:rPr dirty="0" sz="2800" spc="-11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Local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JSON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/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Firebase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31700"/>
              </a:lnSpc>
            </a:pP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Prototype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uses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secure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local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storage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30">
                <a:solidFill>
                  <a:srgbClr val="454140"/>
                </a:solidFill>
                <a:latin typeface="Tahoma"/>
                <a:cs typeface="Tahoma"/>
              </a:rPr>
              <a:t>with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cloud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expansion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planned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38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100"/>
              </a:spcBef>
            </a:pPr>
            <a:r>
              <a:rPr dirty="0" spc="525"/>
              <a:t>What</a:t>
            </a:r>
            <a:r>
              <a:rPr dirty="0" spc="235"/>
              <a:t> </a:t>
            </a:r>
            <a:r>
              <a:rPr dirty="0" spc="455"/>
              <a:t>Makes</a:t>
            </a:r>
            <a:r>
              <a:rPr dirty="0" spc="235"/>
              <a:t> </a:t>
            </a:r>
            <a:r>
              <a:rPr dirty="0" spc="610"/>
              <a:t>Scam</a:t>
            </a:r>
            <a:r>
              <a:rPr dirty="0" spc="235"/>
              <a:t> </a:t>
            </a:r>
            <a:r>
              <a:rPr dirty="0" spc="495"/>
              <a:t>Guard</a:t>
            </a:r>
            <a:r>
              <a:rPr dirty="0" spc="235"/>
              <a:t> </a:t>
            </a:r>
            <a:r>
              <a:rPr dirty="0" spc="350"/>
              <a:t>Innovative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6173" y="2099323"/>
            <a:ext cx="732155" cy="578485"/>
            <a:chOff x="1576173" y="2099323"/>
            <a:chExt cx="732155" cy="578485"/>
          </a:xfrm>
        </p:grpSpPr>
        <p:sp>
          <p:nvSpPr>
            <p:cNvPr id="4" name="object 4" descr=""/>
            <p:cNvSpPr/>
            <p:nvPr/>
          </p:nvSpPr>
          <p:spPr>
            <a:xfrm>
              <a:off x="1583679" y="2105254"/>
              <a:ext cx="716915" cy="566420"/>
            </a:xfrm>
            <a:custGeom>
              <a:avLst/>
              <a:gdLst/>
              <a:ahLst/>
              <a:cxnLst/>
              <a:rect l="l" t="t" r="r" b="b"/>
              <a:pathLst>
                <a:path w="716914" h="566419">
                  <a:moveTo>
                    <a:pt x="582794" y="566196"/>
                  </a:moveTo>
                  <a:lnTo>
                    <a:pt x="133763" y="566196"/>
                  </a:lnTo>
                  <a:lnTo>
                    <a:pt x="81702" y="557888"/>
                  </a:lnTo>
                  <a:lnTo>
                    <a:pt x="39183" y="535234"/>
                  </a:lnTo>
                  <a:lnTo>
                    <a:pt x="10513" y="501638"/>
                  </a:lnTo>
                  <a:lnTo>
                    <a:pt x="0" y="460501"/>
                  </a:lnTo>
                  <a:lnTo>
                    <a:pt x="0" y="105694"/>
                  </a:lnTo>
                  <a:lnTo>
                    <a:pt x="10513" y="64557"/>
                  </a:lnTo>
                  <a:lnTo>
                    <a:pt x="39183" y="30961"/>
                  </a:lnTo>
                  <a:lnTo>
                    <a:pt x="81702" y="8307"/>
                  </a:lnTo>
                  <a:lnTo>
                    <a:pt x="133763" y="0"/>
                  </a:lnTo>
                  <a:lnTo>
                    <a:pt x="582794" y="0"/>
                  </a:lnTo>
                  <a:lnTo>
                    <a:pt x="634855" y="8307"/>
                  </a:lnTo>
                  <a:lnTo>
                    <a:pt x="677374" y="30961"/>
                  </a:lnTo>
                  <a:lnTo>
                    <a:pt x="706044" y="64557"/>
                  </a:lnTo>
                  <a:lnTo>
                    <a:pt x="716557" y="105694"/>
                  </a:lnTo>
                  <a:lnTo>
                    <a:pt x="716557" y="460501"/>
                  </a:lnTo>
                  <a:lnTo>
                    <a:pt x="706044" y="501638"/>
                  </a:lnTo>
                  <a:lnTo>
                    <a:pt x="677374" y="535234"/>
                  </a:lnTo>
                  <a:lnTo>
                    <a:pt x="634855" y="557888"/>
                  </a:lnTo>
                  <a:lnTo>
                    <a:pt x="582794" y="566196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76173" y="2099323"/>
              <a:ext cx="732155" cy="578485"/>
            </a:xfrm>
            <a:custGeom>
              <a:avLst/>
              <a:gdLst/>
              <a:ahLst/>
              <a:cxnLst/>
              <a:rect l="l" t="t" r="r" b="b"/>
              <a:pathLst>
                <a:path w="732155" h="578485">
                  <a:moveTo>
                    <a:pt x="141269" y="578058"/>
                  </a:moveTo>
                  <a:lnTo>
                    <a:pt x="140945" y="578058"/>
                  </a:lnTo>
                  <a:lnTo>
                    <a:pt x="86262" y="569291"/>
                  </a:lnTo>
                  <a:lnTo>
                    <a:pt x="41360" y="545377"/>
                  </a:lnTo>
                  <a:lnTo>
                    <a:pt x="11095" y="509897"/>
                  </a:lnTo>
                  <a:lnTo>
                    <a:pt x="0" y="466432"/>
                  </a:lnTo>
                  <a:lnTo>
                    <a:pt x="0" y="111625"/>
                  </a:lnTo>
                  <a:lnTo>
                    <a:pt x="11095" y="68161"/>
                  </a:lnTo>
                  <a:lnTo>
                    <a:pt x="41360" y="32681"/>
                  </a:lnTo>
                  <a:lnTo>
                    <a:pt x="86262" y="8767"/>
                  </a:lnTo>
                  <a:lnTo>
                    <a:pt x="141269" y="0"/>
                  </a:lnTo>
                  <a:lnTo>
                    <a:pt x="590300" y="0"/>
                  </a:lnTo>
                  <a:lnTo>
                    <a:pt x="590300" y="5931"/>
                  </a:lnTo>
                  <a:lnTo>
                    <a:pt x="141269" y="5931"/>
                  </a:lnTo>
                  <a:lnTo>
                    <a:pt x="141269" y="11862"/>
                  </a:lnTo>
                  <a:lnTo>
                    <a:pt x="92154" y="19710"/>
                  </a:lnTo>
                  <a:lnTo>
                    <a:pt x="52019" y="41103"/>
                  </a:lnTo>
                  <a:lnTo>
                    <a:pt x="24944" y="72817"/>
                  </a:lnTo>
                  <a:lnTo>
                    <a:pt x="15012" y="111625"/>
                  </a:lnTo>
                  <a:lnTo>
                    <a:pt x="15012" y="466432"/>
                  </a:lnTo>
                  <a:lnTo>
                    <a:pt x="24944" y="505291"/>
                  </a:lnTo>
                  <a:lnTo>
                    <a:pt x="52019" y="536999"/>
                  </a:lnTo>
                  <a:lnTo>
                    <a:pt x="92154" y="558364"/>
                  </a:lnTo>
                  <a:lnTo>
                    <a:pt x="141269" y="566195"/>
                  </a:lnTo>
                  <a:lnTo>
                    <a:pt x="651120" y="566195"/>
                  </a:lnTo>
                  <a:lnTo>
                    <a:pt x="645308" y="569291"/>
                  </a:lnTo>
                  <a:lnTo>
                    <a:pt x="627514" y="572127"/>
                  </a:lnTo>
                  <a:lnTo>
                    <a:pt x="141269" y="572127"/>
                  </a:lnTo>
                  <a:lnTo>
                    <a:pt x="141269" y="578058"/>
                  </a:lnTo>
                  <a:close/>
                </a:path>
                <a:path w="732155" h="578485">
                  <a:moveTo>
                    <a:pt x="651120" y="566195"/>
                  </a:moveTo>
                  <a:lnTo>
                    <a:pt x="590300" y="566195"/>
                  </a:lnTo>
                  <a:lnTo>
                    <a:pt x="639374" y="558364"/>
                  </a:lnTo>
                  <a:lnTo>
                    <a:pt x="679524" y="536999"/>
                  </a:lnTo>
                  <a:lnTo>
                    <a:pt x="706604" y="505291"/>
                  </a:lnTo>
                  <a:lnTo>
                    <a:pt x="716557" y="466432"/>
                  </a:lnTo>
                  <a:lnTo>
                    <a:pt x="716557" y="111625"/>
                  </a:lnTo>
                  <a:lnTo>
                    <a:pt x="706646" y="72817"/>
                  </a:lnTo>
                  <a:lnTo>
                    <a:pt x="679607" y="41103"/>
                  </a:lnTo>
                  <a:lnTo>
                    <a:pt x="639479" y="19710"/>
                  </a:lnTo>
                  <a:lnTo>
                    <a:pt x="590300" y="11862"/>
                  </a:lnTo>
                  <a:lnTo>
                    <a:pt x="141269" y="11862"/>
                  </a:lnTo>
                  <a:lnTo>
                    <a:pt x="141269" y="5931"/>
                  </a:lnTo>
                  <a:lnTo>
                    <a:pt x="590300" y="5931"/>
                  </a:lnTo>
                  <a:lnTo>
                    <a:pt x="590300" y="0"/>
                  </a:lnTo>
                  <a:lnTo>
                    <a:pt x="645308" y="8767"/>
                  </a:lnTo>
                  <a:lnTo>
                    <a:pt x="690210" y="32681"/>
                  </a:lnTo>
                  <a:lnTo>
                    <a:pt x="720475" y="68161"/>
                  </a:lnTo>
                  <a:lnTo>
                    <a:pt x="731670" y="111625"/>
                  </a:lnTo>
                  <a:lnTo>
                    <a:pt x="731670" y="466432"/>
                  </a:lnTo>
                  <a:lnTo>
                    <a:pt x="720475" y="509897"/>
                  </a:lnTo>
                  <a:lnTo>
                    <a:pt x="690210" y="545377"/>
                  </a:lnTo>
                  <a:lnTo>
                    <a:pt x="651120" y="566195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141261" y="578058"/>
                  </a:lnTo>
                  <a:lnTo>
                    <a:pt x="141269" y="572127"/>
                  </a:lnTo>
                  <a:lnTo>
                    <a:pt x="590300" y="572127"/>
                  </a:lnTo>
                  <a:lnTo>
                    <a:pt x="590300" y="578058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590300" y="572127"/>
                  </a:lnTo>
                  <a:lnTo>
                    <a:pt x="627514" y="572127"/>
                  </a:lnTo>
                  <a:lnTo>
                    <a:pt x="590300" y="57805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576173" y="3646417"/>
            <a:ext cx="732155" cy="578485"/>
            <a:chOff x="1576173" y="3646417"/>
            <a:chExt cx="732155" cy="578485"/>
          </a:xfrm>
        </p:grpSpPr>
        <p:sp>
          <p:nvSpPr>
            <p:cNvPr id="7" name="object 7" descr=""/>
            <p:cNvSpPr/>
            <p:nvPr/>
          </p:nvSpPr>
          <p:spPr>
            <a:xfrm>
              <a:off x="1583679" y="3652348"/>
              <a:ext cx="716915" cy="566420"/>
            </a:xfrm>
            <a:custGeom>
              <a:avLst/>
              <a:gdLst/>
              <a:ahLst/>
              <a:cxnLst/>
              <a:rect l="l" t="t" r="r" b="b"/>
              <a:pathLst>
                <a:path w="716914" h="566420">
                  <a:moveTo>
                    <a:pt x="582794" y="566196"/>
                  </a:moveTo>
                  <a:lnTo>
                    <a:pt x="133763" y="566196"/>
                  </a:lnTo>
                  <a:lnTo>
                    <a:pt x="81702" y="557888"/>
                  </a:lnTo>
                  <a:lnTo>
                    <a:pt x="39183" y="535234"/>
                  </a:lnTo>
                  <a:lnTo>
                    <a:pt x="10513" y="501638"/>
                  </a:lnTo>
                  <a:lnTo>
                    <a:pt x="0" y="460501"/>
                  </a:lnTo>
                  <a:lnTo>
                    <a:pt x="0" y="105694"/>
                  </a:lnTo>
                  <a:lnTo>
                    <a:pt x="10513" y="64557"/>
                  </a:lnTo>
                  <a:lnTo>
                    <a:pt x="39183" y="30961"/>
                  </a:lnTo>
                  <a:lnTo>
                    <a:pt x="81702" y="8307"/>
                  </a:lnTo>
                  <a:lnTo>
                    <a:pt x="133763" y="0"/>
                  </a:lnTo>
                  <a:lnTo>
                    <a:pt x="582794" y="0"/>
                  </a:lnTo>
                  <a:lnTo>
                    <a:pt x="634855" y="8307"/>
                  </a:lnTo>
                  <a:lnTo>
                    <a:pt x="677374" y="30961"/>
                  </a:lnTo>
                  <a:lnTo>
                    <a:pt x="706044" y="64557"/>
                  </a:lnTo>
                  <a:lnTo>
                    <a:pt x="716557" y="105694"/>
                  </a:lnTo>
                  <a:lnTo>
                    <a:pt x="716557" y="460501"/>
                  </a:lnTo>
                  <a:lnTo>
                    <a:pt x="706044" y="501638"/>
                  </a:lnTo>
                  <a:lnTo>
                    <a:pt x="677374" y="535234"/>
                  </a:lnTo>
                  <a:lnTo>
                    <a:pt x="634855" y="557888"/>
                  </a:lnTo>
                  <a:lnTo>
                    <a:pt x="582794" y="566196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76173" y="3646417"/>
              <a:ext cx="732155" cy="578485"/>
            </a:xfrm>
            <a:custGeom>
              <a:avLst/>
              <a:gdLst/>
              <a:ahLst/>
              <a:cxnLst/>
              <a:rect l="l" t="t" r="r" b="b"/>
              <a:pathLst>
                <a:path w="732155" h="578485">
                  <a:moveTo>
                    <a:pt x="141269" y="578058"/>
                  </a:moveTo>
                  <a:lnTo>
                    <a:pt x="140946" y="578058"/>
                  </a:lnTo>
                  <a:lnTo>
                    <a:pt x="86262" y="569291"/>
                  </a:lnTo>
                  <a:lnTo>
                    <a:pt x="41360" y="545377"/>
                  </a:lnTo>
                  <a:lnTo>
                    <a:pt x="11095" y="509897"/>
                  </a:lnTo>
                  <a:lnTo>
                    <a:pt x="0" y="466432"/>
                  </a:lnTo>
                  <a:lnTo>
                    <a:pt x="0" y="111626"/>
                  </a:lnTo>
                  <a:lnTo>
                    <a:pt x="11095" y="68161"/>
                  </a:lnTo>
                  <a:lnTo>
                    <a:pt x="41360" y="32681"/>
                  </a:lnTo>
                  <a:lnTo>
                    <a:pt x="86262" y="8767"/>
                  </a:lnTo>
                  <a:lnTo>
                    <a:pt x="141269" y="0"/>
                  </a:lnTo>
                  <a:lnTo>
                    <a:pt x="590300" y="0"/>
                  </a:lnTo>
                  <a:lnTo>
                    <a:pt x="590300" y="5931"/>
                  </a:lnTo>
                  <a:lnTo>
                    <a:pt x="141269" y="5931"/>
                  </a:lnTo>
                  <a:lnTo>
                    <a:pt x="141269" y="11862"/>
                  </a:lnTo>
                  <a:lnTo>
                    <a:pt x="92154" y="19710"/>
                  </a:lnTo>
                  <a:lnTo>
                    <a:pt x="52019" y="41103"/>
                  </a:lnTo>
                  <a:lnTo>
                    <a:pt x="24944" y="72817"/>
                  </a:lnTo>
                  <a:lnTo>
                    <a:pt x="15012" y="111626"/>
                  </a:lnTo>
                  <a:lnTo>
                    <a:pt x="15012" y="466432"/>
                  </a:lnTo>
                  <a:lnTo>
                    <a:pt x="24944" y="505291"/>
                  </a:lnTo>
                  <a:lnTo>
                    <a:pt x="52019" y="536999"/>
                  </a:lnTo>
                  <a:lnTo>
                    <a:pt x="92154" y="558365"/>
                  </a:lnTo>
                  <a:lnTo>
                    <a:pt x="141269" y="566196"/>
                  </a:lnTo>
                  <a:lnTo>
                    <a:pt x="651119" y="566196"/>
                  </a:lnTo>
                  <a:lnTo>
                    <a:pt x="645308" y="569291"/>
                  </a:lnTo>
                  <a:lnTo>
                    <a:pt x="627514" y="572127"/>
                  </a:lnTo>
                  <a:lnTo>
                    <a:pt x="141269" y="572127"/>
                  </a:lnTo>
                  <a:lnTo>
                    <a:pt x="141269" y="578058"/>
                  </a:lnTo>
                  <a:close/>
                </a:path>
                <a:path w="732155" h="578485">
                  <a:moveTo>
                    <a:pt x="651119" y="566196"/>
                  </a:moveTo>
                  <a:lnTo>
                    <a:pt x="590300" y="566196"/>
                  </a:lnTo>
                  <a:lnTo>
                    <a:pt x="639374" y="558365"/>
                  </a:lnTo>
                  <a:lnTo>
                    <a:pt x="679524" y="536999"/>
                  </a:lnTo>
                  <a:lnTo>
                    <a:pt x="706604" y="505291"/>
                  </a:lnTo>
                  <a:lnTo>
                    <a:pt x="716557" y="466432"/>
                  </a:lnTo>
                  <a:lnTo>
                    <a:pt x="716557" y="111626"/>
                  </a:lnTo>
                  <a:lnTo>
                    <a:pt x="706646" y="72817"/>
                  </a:lnTo>
                  <a:lnTo>
                    <a:pt x="679607" y="41103"/>
                  </a:lnTo>
                  <a:lnTo>
                    <a:pt x="639479" y="19710"/>
                  </a:lnTo>
                  <a:lnTo>
                    <a:pt x="590300" y="11862"/>
                  </a:lnTo>
                  <a:lnTo>
                    <a:pt x="141269" y="11862"/>
                  </a:lnTo>
                  <a:lnTo>
                    <a:pt x="141269" y="5931"/>
                  </a:lnTo>
                  <a:lnTo>
                    <a:pt x="590300" y="5931"/>
                  </a:lnTo>
                  <a:lnTo>
                    <a:pt x="590300" y="0"/>
                  </a:lnTo>
                  <a:lnTo>
                    <a:pt x="645308" y="8767"/>
                  </a:lnTo>
                  <a:lnTo>
                    <a:pt x="690210" y="32681"/>
                  </a:lnTo>
                  <a:lnTo>
                    <a:pt x="720475" y="68161"/>
                  </a:lnTo>
                  <a:lnTo>
                    <a:pt x="731670" y="111626"/>
                  </a:lnTo>
                  <a:lnTo>
                    <a:pt x="731670" y="466432"/>
                  </a:lnTo>
                  <a:lnTo>
                    <a:pt x="720475" y="509897"/>
                  </a:lnTo>
                  <a:lnTo>
                    <a:pt x="690210" y="545377"/>
                  </a:lnTo>
                  <a:lnTo>
                    <a:pt x="651119" y="566196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141261" y="578058"/>
                  </a:lnTo>
                  <a:lnTo>
                    <a:pt x="141269" y="572127"/>
                  </a:lnTo>
                  <a:lnTo>
                    <a:pt x="590300" y="572127"/>
                  </a:lnTo>
                  <a:lnTo>
                    <a:pt x="590300" y="578058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590300" y="572127"/>
                  </a:lnTo>
                  <a:lnTo>
                    <a:pt x="627514" y="572127"/>
                  </a:lnTo>
                  <a:lnTo>
                    <a:pt x="590300" y="57805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576173" y="5196077"/>
            <a:ext cx="732155" cy="578485"/>
            <a:chOff x="1576173" y="5196077"/>
            <a:chExt cx="732155" cy="578485"/>
          </a:xfrm>
        </p:grpSpPr>
        <p:sp>
          <p:nvSpPr>
            <p:cNvPr id="10" name="object 10" descr=""/>
            <p:cNvSpPr/>
            <p:nvPr/>
          </p:nvSpPr>
          <p:spPr>
            <a:xfrm>
              <a:off x="1583679" y="5202009"/>
              <a:ext cx="716915" cy="566420"/>
            </a:xfrm>
            <a:custGeom>
              <a:avLst/>
              <a:gdLst/>
              <a:ahLst/>
              <a:cxnLst/>
              <a:rect l="l" t="t" r="r" b="b"/>
              <a:pathLst>
                <a:path w="716914" h="566420">
                  <a:moveTo>
                    <a:pt x="582794" y="566196"/>
                  </a:moveTo>
                  <a:lnTo>
                    <a:pt x="133763" y="566196"/>
                  </a:lnTo>
                  <a:lnTo>
                    <a:pt x="81702" y="557888"/>
                  </a:lnTo>
                  <a:lnTo>
                    <a:pt x="39183" y="535234"/>
                  </a:lnTo>
                  <a:lnTo>
                    <a:pt x="10513" y="501638"/>
                  </a:lnTo>
                  <a:lnTo>
                    <a:pt x="0" y="460501"/>
                  </a:lnTo>
                  <a:lnTo>
                    <a:pt x="0" y="105694"/>
                  </a:lnTo>
                  <a:lnTo>
                    <a:pt x="10513" y="64557"/>
                  </a:lnTo>
                  <a:lnTo>
                    <a:pt x="39183" y="30961"/>
                  </a:lnTo>
                  <a:lnTo>
                    <a:pt x="81702" y="8307"/>
                  </a:lnTo>
                  <a:lnTo>
                    <a:pt x="133763" y="0"/>
                  </a:lnTo>
                  <a:lnTo>
                    <a:pt x="582794" y="0"/>
                  </a:lnTo>
                  <a:lnTo>
                    <a:pt x="634855" y="8307"/>
                  </a:lnTo>
                  <a:lnTo>
                    <a:pt x="677374" y="30961"/>
                  </a:lnTo>
                  <a:lnTo>
                    <a:pt x="706044" y="64557"/>
                  </a:lnTo>
                  <a:lnTo>
                    <a:pt x="716557" y="105694"/>
                  </a:lnTo>
                  <a:lnTo>
                    <a:pt x="716557" y="460501"/>
                  </a:lnTo>
                  <a:lnTo>
                    <a:pt x="706044" y="501638"/>
                  </a:lnTo>
                  <a:lnTo>
                    <a:pt x="677374" y="535234"/>
                  </a:lnTo>
                  <a:lnTo>
                    <a:pt x="634855" y="557888"/>
                  </a:lnTo>
                  <a:lnTo>
                    <a:pt x="582794" y="566196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76173" y="5196077"/>
              <a:ext cx="732155" cy="578485"/>
            </a:xfrm>
            <a:custGeom>
              <a:avLst/>
              <a:gdLst/>
              <a:ahLst/>
              <a:cxnLst/>
              <a:rect l="l" t="t" r="r" b="b"/>
              <a:pathLst>
                <a:path w="732155" h="578485">
                  <a:moveTo>
                    <a:pt x="141269" y="578058"/>
                  </a:moveTo>
                  <a:lnTo>
                    <a:pt x="140946" y="578058"/>
                  </a:lnTo>
                  <a:lnTo>
                    <a:pt x="86262" y="569291"/>
                  </a:lnTo>
                  <a:lnTo>
                    <a:pt x="41360" y="545377"/>
                  </a:lnTo>
                  <a:lnTo>
                    <a:pt x="11095" y="509897"/>
                  </a:lnTo>
                  <a:lnTo>
                    <a:pt x="0" y="466432"/>
                  </a:lnTo>
                  <a:lnTo>
                    <a:pt x="0" y="111626"/>
                  </a:lnTo>
                  <a:lnTo>
                    <a:pt x="11095" y="68161"/>
                  </a:lnTo>
                  <a:lnTo>
                    <a:pt x="41360" y="32681"/>
                  </a:lnTo>
                  <a:lnTo>
                    <a:pt x="86262" y="8767"/>
                  </a:lnTo>
                  <a:lnTo>
                    <a:pt x="141269" y="0"/>
                  </a:lnTo>
                  <a:lnTo>
                    <a:pt x="590300" y="0"/>
                  </a:lnTo>
                  <a:lnTo>
                    <a:pt x="590300" y="5931"/>
                  </a:lnTo>
                  <a:lnTo>
                    <a:pt x="141269" y="5931"/>
                  </a:lnTo>
                  <a:lnTo>
                    <a:pt x="141269" y="11862"/>
                  </a:lnTo>
                  <a:lnTo>
                    <a:pt x="92154" y="19710"/>
                  </a:lnTo>
                  <a:lnTo>
                    <a:pt x="52019" y="41103"/>
                  </a:lnTo>
                  <a:lnTo>
                    <a:pt x="24944" y="72817"/>
                  </a:lnTo>
                  <a:lnTo>
                    <a:pt x="15012" y="111626"/>
                  </a:lnTo>
                  <a:lnTo>
                    <a:pt x="15012" y="466432"/>
                  </a:lnTo>
                  <a:lnTo>
                    <a:pt x="24944" y="505291"/>
                  </a:lnTo>
                  <a:lnTo>
                    <a:pt x="52019" y="536999"/>
                  </a:lnTo>
                  <a:lnTo>
                    <a:pt x="92154" y="558365"/>
                  </a:lnTo>
                  <a:lnTo>
                    <a:pt x="141269" y="566196"/>
                  </a:lnTo>
                  <a:lnTo>
                    <a:pt x="651119" y="566196"/>
                  </a:lnTo>
                  <a:lnTo>
                    <a:pt x="645308" y="569291"/>
                  </a:lnTo>
                  <a:lnTo>
                    <a:pt x="627514" y="572127"/>
                  </a:lnTo>
                  <a:lnTo>
                    <a:pt x="141269" y="572127"/>
                  </a:lnTo>
                  <a:lnTo>
                    <a:pt x="141269" y="578058"/>
                  </a:lnTo>
                  <a:close/>
                </a:path>
                <a:path w="732155" h="578485">
                  <a:moveTo>
                    <a:pt x="651119" y="566196"/>
                  </a:moveTo>
                  <a:lnTo>
                    <a:pt x="590300" y="566196"/>
                  </a:lnTo>
                  <a:lnTo>
                    <a:pt x="639374" y="558365"/>
                  </a:lnTo>
                  <a:lnTo>
                    <a:pt x="679524" y="536999"/>
                  </a:lnTo>
                  <a:lnTo>
                    <a:pt x="706604" y="505291"/>
                  </a:lnTo>
                  <a:lnTo>
                    <a:pt x="716557" y="466432"/>
                  </a:lnTo>
                  <a:lnTo>
                    <a:pt x="716557" y="111626"/>
                  </a:lnTo>
                  <a:lnTo>
                    <a:pt x="706646" y="72817"/>
                  </a:lnTo>
                  <a:lnTo>
                    <a:pt x="679607" y="41103"/>
                  </a:lnTo>
                  <a:lnTo>
                    <a:pt x="639479" y="19710"/>
                  </a:lnTo>
                  <a:lnTo>
                    <a:pt x="590300" y="11862"/>
                  </a:lnTo>
                  <a:lnTo>
                    <a:pt x="141269" y="11862"/>
                  </a:lnTo>
                  <a:lnTo>
                    <a:pt x="141269" y="5931"/>
                  </a:lnTo>
                  <a:lnTo>
                    <a:pt x="590300" y="5931"/>
                  </a:lnTo>
                  <a:lnTo>
                    <a:pt x="590300" y="0"/>
                  </a:lnTo>
                  <a:lnTo>
                    <a:pt x="645308" y="8767"/>
                  </a:lnTo>
                  <a:lnTo>
                    <a:pt x="690210" y="32681"/>
                  </a:lnTo>
                  <a:lnTo>
                    <a:pt x="720475" y="68161"/>
                  </a:lnTo>
                  <a:lnTo>
                    <a:pt x="731670" y="111626"/>
                  </a:lnTo>
                  <a:lnTo>
                    <a:pt x="731670" y="466432"/>
                  </a:lnTo>
                  <a:lnTo>
                    <a:pt x="720475" y="509897"/>
                  </a:lnTo>
                  <a:lnTo>
                    <a:pt x="690210" y="545377"/>
                  </a:lnTo>
                  <a:lnTo>
                    <a:pt x="651119" y="566196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141261" y="578058"/>
                  </a:lnTo>
                  <a:lnTo>
                    <a:pt x="141269" y="572127"/>
                  </a:lnTo>
                  <a:lnTo>
                    <a:pt x="590300" y="572127"/>
                  </a:lnTo>
                  <a:lnTo>
                    <a:pt x="590300" y="578058"/>
                  </a:lnTo>
                  <a:close/>
                </a:path>
                <a:path w="732155" h="578485">
                  <a:moveTo>
                    <a:pt x="590300" y="578058"/>
                  </a:moveTo>
                  <a:lnTo>
                    <a:pt x="590300" y="572127"/>
                  </a:lnTo>
                  <a:lnTo>
                    <a:pt x="627514" y="572127"/>
                  </a:lnTo>
                  <a:lnTo>
                    <a:pt x="590300" y="57805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576173" y="7011499"/>
            <a:ext cx="732155" cy="578485"/>
            <a:chOff x="1576173" y="7011499"/>
            <a:chExt cx="732155" cy="578485"/>
          </a:xfrm>
        </p:grpSpPr>
        <p:sp>
          <p:nvSpPr>
            <p:cNvPr id="13" name="object 13" descr=""/>
            <p:cNvSpPr/>
            <p:nvPr/>
          </p:nvSpPr>
          <p:spPr>
            <a:xfrm>
              <a:off x="1583679" y="7017430"/>
              <a:ext cx="716915" cy="566420"/>
            </a:xfrm>
            <a:custGeom>
              <a:avLst/>
              <a:gdLst/>
              <a:ahLst/>
              <a:cxnLst/>
              <a:rect l="l" t="t" r="r" b="b"/>
              <a:pathLst>
                <a:path w="716914" h="566420">
                  <a:moveTo>
                    <a:pt x="582794" y="566195"/>
                  </a:moveTo>
                  <a:lnTo>
                    <a:pt x="133763" y="566195"/>
                  </a:lnTo>
                  <a:lnTo>
                    <a:pt x="81702" y="557888"/>
                  </a:lnTo>
                  <a:lnTo>
                    <a:pt x="39183" y="535234"/>
                  </a:lnTo>
                  <a:lnTo>
                    <a:pt x="10513" y="501637"/>
                  </a:lnTo>
                  <a:lnTo>
                    <a:pt x="0" y="460500"/>
                  </a:lnTo>
                  <a:lnTo>
                    <a:pt x="0" y="105694"/>
                  </a:lnTo>
                  <a:lnTo>
                    <a:pt x="10513" y="64557"/>
                  </a:lnTo>
                  <a:lnTo>
                    <a:pt x="39183" y="30960"/>
                  </a:lnTo>
                  <a:lnTo>
                    <a:pt x="81702" y="8307"/>
                  </a:lnTo>
                  <a:lnTo>
                    <a:pt x="133763" y="0"/>
                  </a:lnTo>
                  <a:lnTo>
                    <a:pt x="582794" y="0"/>
                  </a:lnTo>
                  <a:lnTo>
                    <a:pt x="634855" y="8307"/>
                  </a:lnTo>
                  <a:lnTo>
                    <a:pt x="677374" y="30960"/>
                  </a:lnTo>
                  <a:lnTo>
                    <a:pt x="706044" y="64557"/>
                  </a:lnTo>
                  <a:lnTo>
                    <a:pt x="716557" y="105694"/>
                  </a:lnTo>
                  <a:lnTo>
                    <a:pt x="716557" y="460500"/>
                  </a:lnTo>
                  <a:lnTo>
                    <a:pt x="706044" y="501637"/>
                  </a:lnTo>
                  <a:lnTo>
                    <a:pt x="677374" y="535234"/>
                  </a:lnTo>
                  <a:lnTo>
                    <a:pt x="634855" y="557888"/>
                  </a:lnTo>
                  <a:lnTo>
                    <a:pt x="582794" y="566195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76173" y="7011499"/>
              <a:ext cx="732155" cy="578485"/>
            </a:xfrm>
            <a:custGeom>
              <a:avLst/>
              <a:gdLst/>
              <a:ahLst/>
              <a:cxnLst/>
              <a:rect l="l" t="t" r="r" b="b"/>
              <a:pathLst>
                <a:path w="732155" h="578484">
                  <a:moveTo>
                    <a:pt x="141269" y="578058"/>
                  </a:moveTo>
                  <a:lnTo>
                    <a:pt x="140944" y="578058"/>
                  </a:lnTo>
                  <a:lnTo>
                    <a:pt x="86262" y="569291"/>
                  </a:lnTo>
                  <a:lnTo>
                    <a:pt x="41360" y="545377"/>
                  </a:lnTo>
                  <a:lnTo>
                    <a:pt x="11095" y="509897"/>
                  </a:lnTo>
                  <a:lnTo>
                    <a:pt x="0" y="466432"/>
                  </a:lnTo>
                  <a:lnTo>
                    <a:pt x="0" y="111625"/>
                  </a:lnTo>
                  <a:lnTo>
                    <a:pt x="11095" y="68161"/>
                  </a:lnTo>
                  <a:lnTo>
                    <a:pt x="41360" y="32681"/>
                  </a:lnTo>
                  <a:lnTo>
                    <a:pt x="86262" y="8767"/>
                  </a:lnTo>
                  <a:lnTo>
                    <a:pt x="141269" y="0"/>
                  </a:lnTo>
                  <a:lnTo>
                    <a:pt x="590300" y="0"/>
                  </a:lnTo>
                  <a:lnTo>
                    <a:pt x="590300" y="5931"/>
                  </a:lnTo>
                  <a:lnTo>
                    <a:pt x="141269" y="5931"/>
                  </a:lnTo>
                  <a:lnTo>
                    <a:pt x="141269" y="11862"/>
                  </a:lnTo>
                  <a:lnTo>
                    <a:pt x="92154" y="19710"/>
                  </a:lnTo>
                  <a:lnTo>
                    <a:pt x="52019" y="41103"/>
                  </a:lnTo>
                  <a:lnTo>
                    <a:pt x="24944" y="72816"/>
                  </a:lnTo>
                  <a:lnTo>
                    <a:pt x="15012" y="111625"/>
                  </a:lnTo>
                  <a:lnTo>
                    <a:pt x="15012" y="466432"/>
                  </a:lnTo>
                  <a:lnTo>
                    <a:pt x="24944" y="505291"/>
                  </a:lnTo>
                  <a:lnTo>
                    <a:pt x="52019" y="536999"/>
                  </a:lnTo>
                  <a:lnTo>
                    <a:pt x="92154" y="558364"/>
                  </a:lnTo>
                  <a:lnTo>
                    <a:pt x="141269" y="566195"/>
                  </a:lnTo>
                  <a:lnTo>
                    <a:pt x="651119" y="566195"/>
                  </a:lnTo>
                  <a:lnTo>
                    <a:pt x="645308" y="569291"/>
                  </a:lnTo>
                  <a:lnTo>
                    <a:pt x="627512" y="572127"/>
                  </a:lnTo>
                  <a:lnTo>
                    <a:pt x="141269" y="572127"/>
                  </a:lnTo>
                  <a:lnTo>
                    <a:pt x="141269" y="578058"/>
                  </a:lnTo>
                  <a:close/>
                </a:path>
                <a:path w="732155" h="578484">
                  <a:moveTo>
                    <a:pt x="651119" y="566195"/>
                  </a:moveTo>
                  <a:lnTo>
                    <a:pt x="590300" y="566195"/>
                  </a:lnTo>
                  <a:lnTo>
                    <a:pt x="639374" y="558364"/>
                  </a:lnTo>
                  <a:lnTo>
                    <a:pt x="679524" y="536999"/>
                  </a:lnTo>
                  <a:lnTo>
                    <a:pt x="706604" y="505291"/>
                  </a:lnTo>
                  <a:lnTo>
                    <a:pt x="716557" y="466432"/>
                  </a:lnTo>
                  <a:lnTo>
                    <a:pt x="716557" y="111625"/>
                  </a:lnTo>
                  <a:lnTo>
                    <a:pt x="706646" y="72816"/>
                  </a:lnTo>
                  <a:lnTo>
                    <a:pt x="679607" y="41103"/>
                  </a:lnTo>
                  <a:lnTo>
                    <a:pt x="639479" y="19710"/>
                  </a:lnTo>
                  <a:lnTo>
                    <a:pt x="590300" y="11862"/>
                  </a:lnTo>
                  <a:lnTo>
                    <a:pt x="141269" y="11862"/>
                  </a:lnTo>
                  <a:lnTo>
                    <a:pt x="141269" y="5931"/>
                  </a:lnTo>
                  <a:lnTo>
                    <a:pt x="590300" y="5931"/>
                  </a:lnTo>
                  <a:lnTo>
                    <a:pt x="590300" y="0"/>
                  </a:lnTo>
                  <a:lnTo>
                    <a:pt x="645308" y="8767"/>
                  </a:lnTo>
                  <a:lnTo>
                    <a:pt x="690210" y="32681"/>
                  </a:lnTo>
                  <a:lnTo>
                    <a:pt x="720475" y="68161"/>
                  </a:lnTo>
                  <a:lnTo>
                    <a:pt x="731670" y="111625"/>
                  </a:lnTo>
                  <a:lnTo>
                    <a:pt x="731670" y="466432"/>
                  </a:lnTo>
                  <a:lnTo>
                    <a:pt x="720475" y="509897"/>
                  </a:lnTo>
                  <a:lnTo>
                    <a:pt x="690210" y="545377"/>
                  </a:lnTo>
                  <a:lnTo>
                    <a:pt x="651119" y="566195"/>
                  </a:lnTo>
                  <a:close/>
                </a:path>
                <a:path w="732155" h="578484">
                  <a:moveTo>
                    <a:pt x="590300" y="578058"/>
                  </a:moveTo>
                  <a:lnTo>
                    <a:pt x="141261" y="578058"/>
                  </a:lnTo>
                  <a:lnTo>
                    <a:pt x="141269" y="572127"/>
                  </a:lnTo>
                  <a:lnTo>
                    <a:pt x="590300" y="572127"/>
                  </a:lnTo>
                  <a:lnTo>
                    <a:pt x="590300" y="578058"/>
                  </a:lnTo>
                  <a:close/>
                </a:path>
                <a:path w="732155" h="578484">
                  <a:moveTo>
                    <a:pt x="590300" y="578058"/>
                  </a:moveTo>
                  <a:lnTo>
                    <a:pt x="590300" y="572127"/>
                  </a:lnTo>
                  <a:lnTo>
                    <a:pt x="627512" y="572127"/>
                  </a:lnTo>
                  <a:lnTo>
                    <a:pt x="590300" y="57805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576173" y="8648893"/>
            <a:ext cx="732155" cy="578485"/>
            <a:chOff x="1576173" y="8648893"/>
            <a:chExt cx="732155" cy="578485"/>
          </a:xfrm>
        </p:grpSpPr>
        <p:sp>
          <p:nvSpPr>
            <p:cNvPr id="16" name="object 16" descr=""/>
            <p:cNvSpPr/>
            <p:nvPr/>
          </p:nvSpPr>
          <p:spPr>
            <a:xfrm>
              <a:off x="1583679" y="8654824"/>
              <a:ext cx="716915" cy="566420"/>
            </a:xfrm>
            <a:custGeom>
              <a:avLst/>
              <a:gdLst/>
              <a:ahLst/>
              <a:cxnLst/>
              <a:rect l="l" t="t" r="r" b="b"/>
              <a:pathLst>
                <a:path w="716914" h="566420">
                  <a:moveTo>
                    <a:pt x="582794" y="566195"/>
                  </a:moveTo>
                  <a:lnTo>
                    <a:pt x="133763" y="566195"/>
                  </a:lnTo>
                  <a:lnTo>
                    <a:pt x="81702" y="557888"/>
                  </a:lnTo>
                  <a:lnTo>
                    <a:pt x="39183" y="535234"/>
                  </a:lnTo>
                  <a:lnTo>
                    <a:pt x="10513" y="501637"/>
                  </a:lnTo>
                  <a:lnTo>
                    <a:pt x="0" y="460500"/>
                  </a:lnTo>
                  <a:lnTo>
                    <a:pt x="0" y="105693"/>
                  </a:lnTo>
                  <a:lnTo>
                    <a:pt x="10513" y="64557"/>
                  </a:lnTo>
                  <a:lnTo>
                    <a:pt x="39183" y="30960"/>
                  </a:lnTo>
                  <a:lnTo>
                    <a:pt x="81702" y="8307"/>
                  </a:lnTo>
                  <a:lnTo>
                    <a:pt x="133763" y="0"/>
                  </a:lnTo>
                  <a:lnTo>
                    <a:pt x="582794" y="0"/>
                  </a:lnTo>
                  <a:lnTo>
                    <a:pt x="634855" y="8307"/>
                  </a:lnTo>
                  <a:lnTo>
                    <a:pt x="677374" y="30960"/>
                  </a:lnTo>
                  <a:lnTo>
                    <a:pt x="706044" y="64557"/>
                  </a:lnTo>
                  <a:lnTo>
                    <a:pt x="716557" y="105693"/>
                  </a:lnTo>
                  <a:lnTo>
                    <a:pt x="716557" y="460500"/>
                  </a:lnTo>
                  <a:lnTo>
                    <a:pt x="706044" y="501637"/>
                  </a:lnTo>
                  <a:lnTo>
                    <a:pt x="677374" y="535234"/>
                  </a:lnTo>
                  <a:lnTo>
                    <a:pt x="634855" y="557888"/>
                  </a:lnTo>
                  <a:lnTo>
                    <a:pt x="582794" y="566195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76173" y="8648893"/>
              <a:ext cx="732155" cy="578485"/>
            </a:xfrm>
            <a:custGeom>
              <a:avLst/>
              <a:gdLst/>
              <a:ahLst/>
              <a:cxnLst/>
              <a:rect l="l" t="t" r="r" b="b"/>
              <a:pathLst>
                <a:path w="732155" h="578484">
                  <a:moveTo>
                    <a:pt x="141269" y="578058"/>
                  </a:moveTo>
                  <a:lnTo>
                    <a:pt x="140948" y="578058"/>
                  </a:lnTo>
                  <a:lnTo>
                    <a:pt x="86262" y="569291"/>
                  </a:lnTo>
                  <a:lnTo>
                    <a:pt x="41360" y="545377"/>
                  </a:lnTo>
                  <a:lnTo>
                    <a:pt x="11095" y="509897"/>
                  </a:lnTo>
                  <a:lnTo>
                    <a:pt x="0" y="466432"/>
                  </a:lnTo>
                  <a:lnTo>
                    <a:pt x="0" y="111625"/>
                  </a:lnTo>
                  <a:lnTo>
                    <a:pt x="11095" y="68160"/>
                  </a:lnTo>
                  <a:lnTo>
                    <a:pt x="41360" y="32681"/>
                  </a:lnTo>
                  <a:lnTo>
                    <a:pt x="86262" y="8767"/>
                  </a:lnTo>
                  <a:lnTo>
                    <a:pt x="141269" y="0"/>
                  </a:lnTo>
                  <a:lnTo>
                    <a:pt x="590300" y="0"/>
                  </a:lnTo>
                  <a:lnTo>
                    <a:pt x="590300" y="5931"/>
                  </a:lnTo>
                  <a:lnTo>
                    <a:pt x="141269" y="5931"/>
                  </a:lnTo>
                  <a:lnTo>
                    <a:pt x="141269" y="11862"/>
                  </a:lnTo>
                  <a:lnTo>
                    <a:pt x="92154" y="19710"/>
                  </a:lnTo>
                  <a:lnTo>
                    <a:pt x="52019" y="41103"/>
                  </a:lnTo>
                  <a:lnTo>
                    <a:pt x="24944" y="72816"/>
                  </a:lnTo>
                  <a:lnTo>
                    <a:pt x="15012" y="111625"/>
                  </a:lnTo>
                  <a:lnTo>
                    <a:pt x="15012" y="466432"/>
                  </a:lnTo>
                  <a:lnTo>
                    <a:pt x="24944" y="505291"/>
                  </a:lnTo>
                  <a:lnTo>
                    <a:pt x="52019" y="536999"/>
                  </a:lnTo>
                  <a:lnTo>
                    <a:pt x="92154" y="558364"/>
                  </a:lnTo>
                  <a:lnTo>
                    <a:pt x="141269" y="566195"/>
                  </a:lnTo>
                  <a:lnTo>
                    <a:pt x="651121" y="566195"/>
                  </a:lnTo>
                  <a:lnTo>
                    <a:pt x="645308" y="569291"/>
                  </a:lnTo>
                  <a:lnTo>
                    <a:pt x="627515" y="572127"/>
                  </a:lnTo>
                  <a:lnTo>
                    <a:pt x="141269" y="572127"/>
                  </a:lnTo>
                  <a:lnTo>
                    <a:pt x="141269" y="578058"/>
                  </a:lnTo>
                  <a:close/>
                </a:path>
                <a:path w="732155" h="578484">
                  <a:moveTo>
                    <a:pt x="651121" y="566195"/>
                  </a:moveTo>
                  <a:lnTo>
                    <a:pt x="590300" y="566195"/>
                  </a:lnTo>
                  <a:lnTo>
                    <a:pt x="639374" y="558364"/>
                  </a:lnTo>
                  <a:lnTo>
                    <a:pt x="679524" y="536999"/>
                  </a:lnTo>
                  <a:lnTo>
                    <a:pt x="706604" y="505291"/>
                  </a:lnTo>
                  <a:lnTo>
                    <a:pt x="716557" y="466432"/>
                  </a:lnTo>
                  <a:lnTo>
                    <a:pt x="716557" y="111625"/>
                  </a:lnTo>
                  <a:lnTo>
                    <a:pt x="706646" y="72816"/>
                  </a:lnTo>
                  <a:lnTo>
                    <a:pt x="679607" y="41103"/>
                  </a:lnTo>
                  <a:lnTo>
                    <a:pt x="639479" y="19710"/>
                  </a:lnTo>
                  <a:lnTo>
                    <a:pt x="590300" y="11862"/>
                  </a:lnTo>
                  <a:lnTo>
                    <a:pt x="141269" y="11862"/>
                  </a:lnTo>
                  <a:lnTo>
                    <a:pt x="141269" y="5931"/>
                  </a:lnTo>
                  <a:lnTo>
                    <a:pt x="590300" y="5931"/>
                  </a:lnTo>
                  <a:lnTo>
                    <a:pt x="590300" y="0"/>
                  </a:lnTo>
                  <a:lnTo>
                    <a:pt x="645308" y="8767"/>
                  </a:lnTo>
                  <a:lnTo>
                    <a:pt x="690210" y="32681"/>
                  </a:lnTo>
                  <a:lnTo>
                    <a:pt x="720475" y="68160"/>
                  </a:lnTo>
                  <a:lnTo>
                    <a:pt x="731670" y="111625"/>
                  </a:lnTo>
                  <a:lnTo>
                    <a:pt x="731670" y="466432"/>
                  </a:lnTo>
                  <a:lnTo>
                    <a:pt x="720475" y="509897"/>
                  </a:lnTo>
                  <a:lnTo>
                    <a:pt x="690210" y="545377"/>
                  </a:lnTo>
                  <a:lnTo>
                    <a:pt x="651121" y="566195"/>
                  </a:lnTo>
                  <a:close/>
                </a:path>
                <a:path w="732155" h="578484">
                  <a:moveTo>
                    <a:pt x="590300" y="578058"/>
                  </a:moveTo>
                  <a:lnTo>
                    <a:pt x="141261" y="578058"/>
                  </a:lnTo>
                  <a:lnTo>
                    <a:pt x="141269" y="572127"/>
                  </a:lnTo>
                  <a:lnTo>
                    <a:pt x="590300" y="572127"/>
                  </a:lnTo>
                  <a:lnTo>
                    <a:pt x="590300" y="578058"/>
                  </a:lnTo>
                  <a:close/>
                </a:path>
                <a:path w="732155" h="578484">
                  <a:moveTo>
                    <a:pt x="590300" y="578058"/>
                  </a:moveTo>
                  <a:lnTo>
                    <a:pt x="590300" y="572127"/>
                  </a:lnTo>
                  <a:lnTo>
                    <a:pt x="627515" y="572127"/>
                  </a:lnTo>
                  <a:lnTo>
                    <a:pt x="590300" y="57805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944162" y="1972674"/>
            <a:ext cx="14632940" cy="779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75" b="1">
                <a:solidFill>
                  <a:srgbClr val="454140"/>
                </a:solidFill>
                <a:latin typeface="Cambria"/>
                <a:cs typeface="Cambria"/>
              </a:rPr>
              <a:t>Simple</a:t>
            </a:r>
            <a:r>
              <a:rPr dirty="0" sz="2800" spc="15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95" b="1">
                <a:solidFill>
                  <a:srgbClr val="454140"/>
                </a:solidFill>
                <a:latin typeface="Cambria"/>
                <a:cs typeface="Cambria"/>
              </a:rPr>
              <a:t>Explanations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Translates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complex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indicators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into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clear,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understandable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language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elderly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users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800" spc="270" b="1">
                <a:solidFill>
                  <a:srgbClr val="454140"/>
                </a:solidFill>
                <a:latin typeface="Cambria"/>
                <a:cs typeface="Cambria"/>
              </a:rPr>
              <a:t>Family</a:t>
            </a:r>
            <a:r>
              <a:rPr dirty="0" sz="2800" spc="14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195" b="1">
                <a:solidFill>
                  <a:srgbClr val="454140"/>
                </a:solidFill>
                <a:latin typeface="Cambria"/>
                <a:cs typeface="Cambria"/>
              </a:rPr>
              <a:t>Collaboration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Unique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dashboard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allowing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trusted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relatives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monitor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respond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10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threats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dirty="0" sz="2800" spc="215" b="1">
                <a:solidFill>
                  <a:srgbClr val="454140"/>
                </a:solidFill>
                <a:latin typeface="Cambria"/>
                <a:cs typeface="Cambria"/>
              </a:rPr>
              <a:t>Educational</a:t>
            </a:r>
            <a:r>
              <a:rPr dirty="0" sz="2800" spc="15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35" b="1">
                <a:solidFill>
                  <a:srgbClr val="454140"/>
                </a:solidFill>
                <a:latin typeface="Cambria"/>
                <a:cs typeface="Cambria"/>
              </a:rPr>
              <a:t>Approach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Built-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in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learning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materials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that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empower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seniors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long-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term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digital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safety</a:t>
            </a:r>
            <a:r>
              <a:rPr dirty="0" sz="2800" spc="-9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skills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40" b="1">
                <a:solidFill>
                  <a:srgbClr val="454140"/>
                </a:solidFill>
                <a:latin typeface="Cambria"/>
                <a:cs typeface="Cambria"/>
              </a:rPr>
              <a:t>Senior-</a:t>
            </a:r>
            <a:r>
              <a:rPr dirty="0" sz="2800" spc="130" b="1">
                <a:solidFill>
                  <a:srgbClr val="454140"/>
                </a:solidFill>
                <a:latin typeface="Cambria"/>
                <a:cs typeface="Cambria"/>
              </a:rPr>
              <a:t>First</a:t>
            </a:r>
            <a:r>
              <a:rPr dirty="0" sz="2800" spc="13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29" b="1">
                <a:solidFill>
                  <a:srgbClr val="454140"/>
                </a:solidFill>
                <a:latin typeface="Cambria"/>
                <a:cs typeface="Cambria"/>
              </a:rPr>
              <a:t>Design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Every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interface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element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specifically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crafted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elderly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usability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accessibility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800" spc="250" b="1">
                <a:solidFill>
                  <a:srgbClr val="454140"/>
                </a:solidFill>
                <a:latin typeface="Cambria"/>
                <a:cs typeface="Cambria"/>
              </a:rPr>
              <a:t>Multichannel</a:t>
            </a:r>
            <a:r>
              <a:rPr dirty="0" sz="2800" spc="125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800" spc="225" b="1">
                <a:solidFill>
                  <a:srgbClr val="454140"/>
                </a:solidFill>
                <a:latin typeface="Cambria"/>
                <a:cs typeface="Cambria"/>
              </a:rPr>
              <a:t>Ready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110">
                <a:solidFill>
                  <a:srgbClr val="454140"/>
                </a:solidFill>
                <a:latin typeface="Tahoma"/>
                <a:cs typeface="Tahoma"/>
              </a:rPr>
              <a:t>Architecture</a:t>
            </a:r>
            <a:r>
              <a:rPr dirty="0" sz="2800" spc="-1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designed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0">
                <a:solidFill>
                  <a:srgbClr val="454140"/>
                </a:solidFill>
                <a:latin typeface="Tahoma"/>
                <a:cs typeface="Tahoma"/>
              </a:rPr>
              <a:t>expansion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across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SMS,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WhatsApp,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email,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454140"/>
                </a:solidFill>
                <a:latin typeface="Tahoma"/>
                <a:cs typeface="Tahoma"/>
              </a:rPr>
              <a:t>voice</a:t>
            </a:r>
            <a:r>
              <a:rPr dirty="0" sz="2800" spc="-1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calls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882" y="1369331"/>
            <a:ext cx="8553449" cy="53625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9882" y="1369331"/>
            <a:ext cx="8591549" cy="51815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8578" y="6729997"/>
            <a:ext cx="7496174" cy="34691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0878" y="221859"/>
            <a:ext cx="6623684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80">
                <a:solidFill>
                  <a:srgbClr val="000000"/>
                </a:solidFill>
              </a:rPr>
              <a:t>Output</a:t>
            </a:r>
            <a:r>
              <a:rPr dirty="0" spc="235">
                <a:solidFill>
                  <a:srgbClr val="000000"/>
                </a:solidFill>
              </a:rPr>
              <a:t> </a:t>
            </a:r>
            <a:r>
              <a:rPr dirty="0" spc="310">
                <a:solidFill>
                  <a:srgbClr val="000000"/>
                </a:solidFill>
              </a:rPr>
              <a:t>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663" y="604900"/>
            <a:ext cx="901509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5"/>
              <a:t>Results</a:t>
            </a:r>
            <a:r>
              <a:rPr dirty="0" spc="240"/>
              <a:t> </a:t>
            </a:r>
            <a:r>
              <a:rPr dirty="0" spc="740"/>
              <a:t>&amp;</a:t>
            </a:r>
            <a:r>
              <a:rPr dirty="0" spc="245"/>
              <a:t> </a:t>
            </a:r>
            <a:r>
              <a:rPr dirty="0" spc="365"/>
              <a:t>Future</a:t>
            </a:r>
            <a:r>
              <a:rPr dirty="0" spc="240"/>
              <a:t> </a:t>
            </a:r>
            <a:r>
              <a:rPr dirty="0" spc="495"/>
              <a:t>Roadmap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686312" y="1798338"/>
            <a:ext cx="4740910" cy="3487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125"/>
              </a:spcBef>
            </a:pPr>
            <a:r>
              <a:rPr dirty="0" sz="3800" spc="220" b="1">
                <a:solidFill>
                  <a:srgbClr val="454140"/>
                </a:solidFill>
                <a:latin typeface="Cambria"/>
                <a:cs typeface="Cambria"/>
              </a:rPr>
              <a:t>4</a:t>
            </a: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3800">
              <a:latin typeface="Cambria"/>
              <a:cs typeface="Cambria"/>
            </a:endParaRPr>
          </a:p>
          <a:p>
            <a:pPr algn="ctr" marR="22225">
              <a:lnSpc>
                <a:spcPct val="100000"/>
              </a:lnSpc>
            </a:pPr>
            <a:r>
              <a:rPr dirty="0" sz="2700" spc="280" b="1">
                <a:solidFill>
                  <a:srgbClr val="454140"/>
                </a:solidFill>
                <a:latin typeface="Cambria"/>
                <a:cs typeface="Cambria"/>
              </a:rPr>
              <a:t>Core</a:t>
            </a:r>
            <a:r>
              <a:rPr dirty="0" sz="2700" spc="13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00" spc="135" b="1">
                <a:solidFill>
                  <a:srgbClr val="454140"/>
                </a:solidFill>
                <a:latin typeface="Cambria"/>
                <a:cs typeface="Cambria"/>
              </a:rPr>
              <a:t>Features</a:t>
            </a:r>
            <a:endParaRPr sz="2700">
              <a:latin typeface="Cambria"/>
              <a:cs typeface="Cambria"/>
            </a:endParaRPr>
          </a:p>
          <a:p>
            <a:pPr algn="ctr" marL="12700" marR="5080">
              <a:lnSpc>
                <a:spcPct val="133900"/>
              </a:lnSpc>
              <a:spcBef>
                <a:spcPts val="355"/>
              </a:spcBef>
            </a:pP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Detection,</a:t>
            </a:r>
            <a:r>
              <a:rPr dirty="0" sz="2800" spc="-1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History,</a:t>
            </a:r>
            <a:r>
              <a:rPr dirty="0" sz="2800" spc="-1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Family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Mode,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Learning</a:t>
            </a:r>
            <a:r>
              <a:rPr dirty="0" sz="280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modules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operational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524" y="7209742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524" y="8206961"/>
            <a:ext cx="114300" cy="1142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524" y="9204182"/>
            <a:ext cx="114300" cy="1142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016000" y="1798338"/>
            <a:ext cx="7219950" cy="8232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349500">
              <a:lnSpc>
                <a:spcPct val="100000"/>
              </a:lnSpc>
              <a:spcBef>
                <a:spcPts val="125"/>
              </a:spcBef>
            </a:pPr>
            <a:r>
              <a:rPr dirty="0" sz="3800" spc="-25" b="1">
                <a:solidFill>
                  <a:srgbClr val="454140"/>
                </a:solidFill>
                <a:latin typeface="Cambria"/>
                <a:cs typeface="Cambria"/>
              </a:rPr>
              <a:t>95%</a:t>
            </a:r>
            <a:endParaRPr sz="3800">
              <a:latin typeface="Cambria"/>
              <a:cs typeface="Cambria"/>
            </a:endParaRPr>
          </a:p>
          <a:p>
            <a:pPr algn="ctr" marL="227965" marR="2578100">
              <a:lnSpc>
                <a:spcPct val="138000"/>
              </a:lnSpc>
              <a:spcBef>
                <a:spcPts val="4350"/>
              </a:spcBef>
            </a:pPr>
            <a:r>
              <a:rPr dirty="0" sz="2700" spc="175" b="1">
                <a:solidFill>
                  <a:srgbClr val="454140"/>
                </a:solidFill>
                <a:latin typeface="Cambria"/>
                <a:cs typeface="Cambria"/>
              </a:rPr>
              <a:t>Classification</a:t>
            </a:r>
            <a:r>
              <a:rPr dirty="0" sz="2700" spc="180" b="1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00" spc="229" b="1">
                <a:solidFill>
                  <a:srgbClr val="454140"/>
                </a:solidFill>
                <a:latin typeface="Cambria"/>
                <a:cs typeface="Cambria"/>
              </a:rPr>
              <a:t>Accuracy 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Successfully</a:t>
            </a:r>
            <a:r>
              <a:rPr dirty="0" sz="2800" spc="-10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distinguishing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legitimate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messages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000" spc="330" b="1">
                <a:solidFill>
                  <a:srgbClr val="5C4E3C"/>
                </a:solidFill>
                <a:latin typeface="Cambria"/>
                <a:cs typeface="Cambria"/>
              </a:rPr>
              <a:t>Next</a:t>
            </a:r>
            <a:r>
              <a:rPr dirty="0" sz="3000" spc="155" b="1">
                <a:solidFill>
                  <a:srgbClr val="5C4E3C"/>
                </a:solidFill>
                <a:latin typeface="Cambria"/>
                <a:cs typeface="Cambria"/>
              </a:rPr>
              <a:t> Phase: </a:t>
            </a:r>
            <a:r>
              <a:rPr dirty="0" sz="3000" spc="300" b="1">
                <a:solidFill>
                  <a:srgbClr val="5C4E3C"/>
                </a:solidFill>
                <a:latin typeface="Cambria"/>
                <a:cs typeface="Cambria"/>
              </a:rPr>
              <a:t>Enhanced</a:t>
            </a:r>
            <a:r>
              <a:rPr dirty="0" sz="3000" spc="155" b="1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3000" spc="180" b="1">
                <a:solidFill>
                  <a:srgbClr val="5C4E3C"/>
                </a:solidFill>
                <a:latin typeface="Cambria"/>
                <a:cs typeface="Cambria"/>
              </a:rPr>
              <a:t>Protection</a:t>
            </a:r>
            <a:endParaRPr sz="3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3000">
              <a:latin typeface="Cambria"/>
              <a:cs typeface="Cambria"/>
            </a:endParaRPr>
          </a:p>
          <a:p>
            <a:pPr marL="434340" marR="5080">
              <a:lnSpc>
                <a:spcPct val="133900"/>
              </a:lnSpc>
            </a:pPr>
            <a:r>
              <a:rPr dirty="0" sz="2800" spc="90" b="1">
                <a:solidFill>
                  <a:srgbClr val="454140"/>
                </a:solidFill>
                <a:latin typeface="Trebuchet MS"/>
                <a:cs typeface="Trebuchet MS"/>
              </a:rPr>
              <a:t>Automatic</a:t>
            </a:r>
            <a:r>
              <a:rPr dirty="0" sz="2800" spc="-16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50" b="1">
                <a:solidFill>
                  <a:srgbClr val="454140"/>
                </a:solidFill>
                <a:latin typeface="Trebuchet MS"/>
                <a:cs typeface="Trebuchet MS"/>
              </a:rPr>
              <a:t>scanning:</a:t>
            </a:r>
            <a:r>
              <a:rPr dirty="0" sz="2800" spc="-8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Real-</a:t>
            </a:r>
            <a:r>
              <a:rPr dirty="0" sz="2800" spc="100">
                <a:solidFill>
                  <a:srgbClr val="454140"/>
                </a:solidFill>
                <a:latin typeface="Tahoma"/>
                <a:cs typeface="Tahoma"/>
              </a:rPr>
              <a:t>time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SMS</a:t>
            </a:r>
            <a:r>
              <a:rPr dirty="0" sz="2800" spc="-1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and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WhatsApp</a:t>
            </a:r>
            <a:r>
              <a:rPr dirty="0" sz="2800" spc="-114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454140"/>
                </a:solidFill>
                <a:latin typeface="Tahoma"/>
                <a:cs typeface="Tahoma"/>
              </a:rPr>
              <a:t>monitoring</a:t>
            </a:r>
            <a:endParaRPr sz="2800">
              <a:latin typeface="Tahoma"/>
              <a:cs typeface="Tahoma"/>
            </a:endParaRPr>
          </a:p>
          <a:p>
            <a:pPr marL="434340">
              <a:lnSpc>
                <a:spcPts val="3350"/>
              </a:lnSpc>
            </a:pPr>
            <a:r>
              <a:rPr dirty="0" sz="2800" spc="95" b="1">
                <a:solidFill>
                  <a:srgbClr val="454140"/>
                </a:solidFill>
                <a:latin typeface="Trebuchet MS"/>
                <a:cs typeface="Trebuchet MS"/>
              </a:rPr>
              <a:t>Voice</a:t>
            </a:r>
            <a:r>
              <a:rPr dirty="0" sz="2800" spc="-114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protection:</a:t>
            </a:r>
            <a:r>
              <a:rPr dirty="0" sz="2800" spc="-3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AI-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powered</a:t>
            </a:r>
            <a:r>
              <a:rPr dirty="0" sz="2800" spc="-6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call</a:t>
            </a:r>
            <a:r>
              <a:rPr dirty="0" sz="280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endParaRPr sz="2800">
              <a:latin typeface="Tahoma"/>
              <a:cs typeface="Tahoma"/>
            </a:endParaRPr>
          </a:p>
          <a:p>
            <a:pPr marL="434340">
              <a:lnSpc>
                <a:spcPts val="3354"/>
              </a:lnSpc>
              <a:spcBef>
                <a:spcPts val="1140"/>
              </a:spcBef>
            </a:pP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detection</a:t>
            </a:r>
            <a:endParaRPr sz="2800">
              <a:latin typeface="Tahoma"/>
              <a:cs typeface="Tahoma"/>
            </a:endParaRPr>
          </a:p>
          <a:p>
            <a:pPr marL="434340">
              <a:lnSpc>
                <a:spcPts val="3354"/>
              </a:lnSpc>
            </a:pPr>
            <a:r>
              <a:rPr dirty="0" sz="2800" spc="80" b="1">
                <a:solidFill>
                  <a:srgbClr val="454140"/>
                </a:solidFill>
                <a:latin typeface="Trebuchet MS"/>
                <a:cs typeface="Trebuchet MS"/>
              </a:rPr>
              <a:t>Mobile</a:t>
            </a:r>
            <a:r>
              <a:rPr dirty="0" sz="2800" spc="-14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app:</a:t>
            </a:r>
            <a:r>
              <a:rPr dirty="0" sz="2800" spc="-6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Dedicated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454140"/>
                </a:solidFill>
                <a:latin typeface="Tahoma"/>
                <a:cs typeface="Tahoma"/>
              </a:rPr>
              <a:t>family</a:t>
            </a:r>
            <a:r>
              <a:rPr dirty="0" sz="280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454140"/>
                </a:solidFill>
                <a:latin typeface="Tahoma"/>
                <a:cs typeface="Tahoma"/>
              </a:rPr>
              <a:t>member</a:t>
            </a:r>
            <a:endParaRPr sz="2800">
              <a:latin typeface="Tahoma"/>
              <a:cs typeface="Tahoma"/>
            </a:endParaRPr>
          </a:p>
          <a:p>
            <a:pPr marL="434340">
              <a:lnSpc>
                <a:spcPct val="100000"/>
              </a:lnSpc>
              <a:spcBef>
                <a:spcPts val="1140"/>
              </a:spcBef>
            </a:pP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application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2125" y="7209742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2125" y="8206961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2125" y="9204182"/>
            <a:ext cx="114300" cy="1142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617826" y="6868105"/>
            <a:ext cx="6541770" cy="316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84250">
              <a:lnSpc>
                <a:spcPct val="133900"/>
              </a:lnSpc>
              <a:spcBef>
                <a:spcPts val="100"/>
              </a:spcBef>
            </a:pP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Multilingual</a:t>
            </a:r>
            <a:r>
              <a:rPr dirty="0" sz="2800" spc="-7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45" b="1">
                <a:solidFill>
                  <a:srgbClr val="454140"/>
                </a:solidFill>
                <a:latin typeface="Trebuchet MS"/>
                <a:cs typeface="Trebuchet MS"/>
              </a:rPr>
              <a:t>support:</a:t>
            </a:r>
            <a:r>
              <a:rPr dirty="0" sz="2800" spc="1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Warnings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454140"/>
                </a:solidFill>
                <a:latin typeface="Tahoma"/>
                <a:cs typeface="Tahoma"/>
              </a:rPr>
              <a:t>in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regional</a:t>
            </a:r>
            <a:r>
              <a:rPr dirty="0" sz="28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Indian</a:t>
            </a:r>
            <a:r>
              <a:rPr dirty="0" sz="28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454140"/>
                </a:solidFill>
                <a:latin typeface="Tahoma"/>
                <a:cs typeface="Tahoma"/>
              </a:rPr>
              <a:t>languages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350"/>
              </a:lnSpc>
            </a:pPr>
            <a:r>
              <a:rPr dirty="0" sz="2800" spc="45" b="1">
                <a:solidFill>
                  <a:srgbClr val="454140"/>
                </a:solidFill>
                <a:latin typeface="Trebuchet MS"/>
                <a:cs typeface="Trebuchet MS"/>
              </a:rPr>
              <a:t>Authority</a:t>
            </a:r>
            <a:r>
              <a:rPr dirty="0" sz="2800" spc="-18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454140"/>
                </a:solidFill>
                <a:latin typeface="Trebuchet MS"/>
                <a:cs typeface="Trebuchet MS"/>
              </a:rPr>
              <a:t>integration:</a:t>
            </a:r>
            <a:r>
              <a:rPr dirty="0" sz="2800" spc="-10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114">
                <a:solidFill>
                  <a:srgbClr val="454140"/>
                </a:solidFill>
                <a:latin typeface="Tahoma"/>
                <a:cs typeface="Tahoma"/>
              </a:rPr>
              <a:t>Automatic</a:t>
            </a:r>
            <a:r>
              <a:rPr dirty="0" sz="2800" spc="-1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354"/>
              </a:lnSpc>
              <a:spcBef>
                <a:spcPts val="1140"/>
              </a:spcBef>
            </a:pPr>
            <a:r>
              <a:rPr dirty="0" sz="2800" spc="65">
                <a:solidFill>
                  <a:srgbClr val="454140"/>
                </a:solidFill>
                <a:latin typeface="Tahoma"/>
                <a:cs typeface="Tahoma"/>
              </a:rPr>
              <a:t>reporting</a:t>
            </a:r>
            <a:r>
              <a:rPr dirty="0" sz="2800" spc="-1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454140"/>
                </a:solidFill>
                <a:latin typeface="Tahoma"/>
                <a:cs typeface="Tahoma"/>
              </a:rPr>
              <a:t>cybercrime</a:t>
            </a:r>
            <a:r>
              <a:rPr dirty="0" sz="2800" spc="-1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454140"/>
                </a:solidFill>
                <a:latin typeface="Tahoma"/>
                <a:cs typeface="Tahoma"/>
              </a:rPr>
              <a:t>cells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354"/>
              </a:lnSpc>
            </a:pPr>
            <a:r>
              <a:rPr dirty="0" sz="2800" spc="95" b="1">
                <a:solidFill>
                  <a:srgbClr val="454140"/>
                </a:solidFill>
                <a:latin typeface="Trebuchet MS"/>
                <a:cs typeface="Trebuchet MS"/>
              </a:rPr>
              <a:t>Expanded</a:t>
            </a:r>
            <a:r>
              <a:rPr dirty="0" sz="2800" spc="-135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-65" b="1">
                <a:solidFill>
                  <a:srgbClr val="454140"/>
                </a:solidFill>
                <a:latin typeface="Trebuchet MS"/>
                <a:cs typeface="Trebuchet MS"/>
              </a:rPr>
              <a:t>AI:</a:t>
            </a:r>
            <a:r>
              <a:rPr dirty="0" sz="2800" spc="-50" b="1">
                <a:solidFill>
                  <a:srgbClr val="454140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454140"/>
                </a:solidFill>
                <a:latin typeface="Tahoma"/>
                <a:cs typeface="Tahoma"/>
              </a:rPr>
              <a:t>Continuous</a:t>
            </a:r>
            <a:r>
              <a:rPr dirty="0" sz="280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454140"/>
                </a:solidFill>
                <a:latin typeface="Tahoma"/>
                <a:cs typeface="Tahoma"/>
              </a:rPr>
              <a:t>learning</a:t>
            </a:r>
            <a:r>
              <a:rPr dirty="0" sz="280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2800" spc="50">
                <a:solidFill>
                  <a:srgbClr val="454140"/>
                </a:solidFill>
                <a:latin typeface="Tahoma"/>
                <a:cs typeface="Tahoma"/>
              </a:rPr>
              <a:t>new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454140"/>
                </a:solidFill>
                <a:latin typeface="Tahoma"/>
                <a:cs typeface="Tahoma"/>
              </a:rPr>
              <a:t>scam</a:t>
            </a:r>
            <a:r>
              <a:rPr dirty="0" sz="2800" spc="-1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800" spc="85">
                <a:solidFill>
                  <a:srgbClr val="454140"/>
                </a:solidFill>
                <a:latin typeface="Tahoma"/>
                <a:cs typeface="Tahoma"/>
              </a:rPr>
              <a:t>patterns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EC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302205" y="429611"/>
            <a:ext cx="11684000" cy="9427845"/>
            <a:chOff x="3302205" y="429611"/>
            <a:chExt cx="11684000" cy="94278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4905" y="429611"/>
              <a:ext cx="10696574" cy="942766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302203" y="2187713"/>
              <a:ext cx="11684000" cy="5911850"/>
            </a:xfrm>
            <a:custGeom>
              <a:avLst/>
              <a:gdLst/>
              <a:ahLst/>
              <a:cxnLst/>
              <a:rect l="l" t="t" r="r" b="b"/>
              <a:pathLst>
                <a:path w="11684000" h="5911850">
                  <a:moveTo>
                    <a:pt x="11683581" y="0"/>
                  </a:moveTo>
                  <a:lnTo>
                    <a:pt x="11479962" y="0"/>
                  </a:lnTo>
                  <a:lnTo>
                    <a:pt x="11479962" y="199390"/>
                  </a:lnTo>
                  <a:lnTo>
                    <a:pt x="11479962" y="5707380"/>
                  </a:lnTo>
                  <a:lnTo>
                    <a:pt x="199377" y="5707380"/>
                  </a:lnTo>
                  <a:lnTo>
                    <a:pt x="199377" y="199390"/>
                  </a:lnTo>
                  <a:lnTo>
                    <a:pt x="11479962" y="199390"/>
                  </a:lnTo>
                  <a:lnTo>
                    <a:pt x="11479962" y="0"/>
                  </a:lnTo>
                  <a:lnTo>
                    <a:pt x="0" y="0"/>
                  </a:lnTo>
                  <a:lnTo>
                    <a:pt x="0" y="199390"/>
                  </a:lnTo>
                  <a:lnTo>
                    <a:pt x="0" y="5707380"/>
                  </a:lnTo>
                  <a:lnTo>
                    <a:pt x="0" y="5911850"/>
                  </a:lnTo>
                  <a:lnTo>
                    <a:pt x="11683581" y="5911850"/>
                  </a:lnTo>
                  <a:lnTo>
                    <a:pt x="11683581" y="5707964"/>
                  </a:lnTo>
                  <a:lnTo>
                    <a:pt x="11683581" y="5707380"/>
                  </a:lnTo>
                  <a:lnTo>
                    <a:pt x="11683581" y="199390"/>
                  </a:lnTo>
                  <a:lnTo>
                    <a:pt x="116835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79797" y="4425949"/>
            <a:ext cx="722757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280">
                <a:solidFill>
                  <a:srgbClr val="000000"/>
                </a:solidFill>
                <a:latin typeface="Tahoma"/>
                <a:cs typeface="Tahoma"/>
              </a:rPr>
              <a:t>THANK</a:t>
            </a:r>
            <a:r>
              <a:rPr dirty="0" sz="9000" spc="1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0" spc="280">
                <a:solidFill>
                  <a:srgbClr val="000000"/>
                </a:solidFill>
                <a:latin typeface="Tahoma"/>
                <a:cs typeface="Tahoma"/>
              </a:rPr>
              <a:t>YOU</a:t>
            </a:r>
            <a:endParaRPr sz="9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bhavyasree mukkamalla</dc:creator>
  <cp:keywords>DAG6zJJpgWs,BAGG5HMp63M,0</cp:keywords>
  <dc:title>Scam-Guard-AI-Powered-Protection-for-Elderly-Users (3).pptx</dc:title>
  <dcterms:created xsi:type="dcterms:W3CDTF">2025-12-07T05:32:56Z</dcterms:created>
  <dcterms:modified xsi:type="dcterms:W3CDTF">2025-12-07T05:32:56Z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2025-12-07T00:00:00Z</vt:filetime>
  </property>
  <property fmtid="{D5CDD505-2E9C-101B-9397-08002B2CF9AE}" pid="5" name="Producer">
    <vt:lpwstr>Canva</vt:lpwstr>
  </property>
</Properties>
</file>